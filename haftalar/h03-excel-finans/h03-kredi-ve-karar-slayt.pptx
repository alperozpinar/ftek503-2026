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çılış" id="{a72d3e1d-0bf1-5710-b240-8a1f068dd728}">
          <p14:sldIdLst>
            <p14:sldId id="256"/>
            <p14:sldId id="257"/>
            <p14:sldId id="258"/>
          </p14:sldIdLst>
        </p14:section>
        <p14:section name="01 Geçen hafta" id="{6bc42dee-2130-a4d8-8180-e1b9e4f0e8e0}">
          <p14:sldIdLst>
            <p14:sldId id="259"/>
            <p14:sldId id="260"/>
            <p14:sldId id="261"/>
            <p14:sldId id="262"/>
          </p14:sldIdLst>
        </p14:section>
        <p14:section name="02 Vaka" id="{07121421-e905-6f24-2859-f750272b3c71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03 Kredi" id="{4c4cb101-581d-c772-7716-a3f587a68334}">
          <p14:sldIdLst>
            <p14:sldId id="269"/>
            <p14:sldId id="270"/>
            <p14:sldId id="271"/>
            <p14:sldId id="272"/>
            <p14:sldId id="273"/>
          </p14:sldIdLst>
        </p14:section>
        <p14:section name="04 NPV ve IRR" id="{3db1979b-212b-c151-244a-f4a9fc15c2c6}">
          <p14:sldIdLst>
            <p14:sldId id="274"/>
            <p14:sldId id="275"/>
            <p14:sldId id="276"/>
            <p14:sldId id="277"/>
          </p14:sldIdLst>
        </p14:section>
        <p14:section name="05 Karar araçları" id="{d21e9097-6eab-7ad3-f0f5-96eb57cc7883}">
          <p14:sldIdLst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06 Uygulama" id="{b64ac00f-b0f0-b6c8-c521-fd6f15411eef}">
          <p14:sldIdLst>
            <p14:sldId id="284"/>
            <p14:sldId id="285"/>
            <p14:sldId id="286"/>
            <p14:sldId id="287"/>
          </p14:sldIdLst>
        </p14:section>
        <p14:section name="Kapanış" id="{dca8b4cd-51b7-ab6c-acd5-5800693b17e9}">
          <p14:sldIdLst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A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1417320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8641080" y="1892808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641080" y="2368296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641080" y="2843784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8641080" y="3319272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hape 5"/>
          <p:cNvSpPr/>
          <p:nvPr/>
        </p:nvSpPr>
        <p:spPr>
          <a:xfrm>
            <a:off x="8641080" y="3794760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8641080" y="4270248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8641080" y="4745736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Shape 8"/>
          <p:cNvSpPr/>
          <p:nvPr/>
        </p:nvSpPr>
        <p:spPr>
          <a:xfrm>
            <a:off x="9116568" y="1417320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9116568" y="1892808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9116568" y="2368296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9116568" y="2843784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9116568" y="3319272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9116568" y="3794760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9116568" y="4270248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Shape 15"/>
          <p:cNvSpPr/>
          <p:nvPr/>
        </p:nvSpPr>
        <p:spPr>
          <a:xfrm>
            <a:off x="9116568" y="4745736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Shape 16"/>
          <p:cNvSpPr/>
          <p:nvPr/>
        </p:nvSpPr>
        <p:spPr>
          <a:xfrm>
            <a:off x="9592056" y="1417320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9592056" y="1892808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Shape 18"/>
          <p:cNvSpPr/>
          <p:nvPr/>
        </p:nvSpPr>
        <p:spPr>
          <a:xfrm>
            <a:off x="9592056" y="2368296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Shape 19"/>
          <p:cNvSpPr/>
          <p:nvPr/>
        </p:nvSpPr>
        <p:spPr>
          <a:xfrm>
            <a:off x="9592056" y="2843784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Shape 20"/>
          <p:cNvSpPr/>
          <p:nvPr/>
        </p:nvSpPr>
        <p:spPr>
          <a:xfrm>
            <a:off x="9592056" y="3319272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Shape 21"/>
          <p:cNvSpPr/>
          <p:nvPr/>
        </p:nvSpPr>
        <p:spPr>
          <a:xfrm>
            <a:off x="9592056" y="3794760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9592056" y="4270248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hape 23"/>
          <p:cNvSpPr/>
          <p:nvPr/>
        </p:nvSpPr>
        <p:spPr>
          <a:xfrm>
            <a:off x="9592056" y="4745736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67544" y="1417320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67544" y="1892808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Shape 26"/>
          <p:cNvSpPr/>
          <p:nvPr/>
        </p:nvSpPr>
        <p:spPr>
          <a:xfrm>
            <a:off x="10067544" y="2368296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67544" y="2843784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0" name="Shape 28"/>
          <p:cNvSpPr/>
          <p:nvPr/>
        </p:nvSpPr>
        <p:spPr>
          <a:xfrm>
            <a:off x="10067544" y="3319272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1" name="Shape 29"/>
          <p:cNvSpPr/>
          <p:nvPr/>
        </p:nvSpPr>
        <p:spPr>
          <a:xfrm>
            <a:off x="10067544" y="3794760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2" name="Shape 30"/>
          <p:cNvSpPr/>
          <p:nvPr/>
        </p:nvSpPr>
        <p:spPr>
          <a:xfrm>
            <a:off x="10067544" y="4270248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67544" y="4745736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4" name="Shape 32"/>
          <p:cNvSpPr/>
          <p:nvPr/>
        </p:nvSpPr>
        <p:spPr>
          <a:xfrm>
            <a:off x="10543032" y="1417320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5" name="Shape 33"/>
          <p:cNvSpPr/>
          <p:nvPr/>
        </p:nvSpPr>
        <p:spPr>
          <a:xfrm>
            <a:off x="10543032" y="1892808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6" name="Shape 34"/>
          <p:cNvSpPr/>
          <p:nvPr/>
        </p:nvSpPr>
        <p:spPr>
          <a:xfrm>
            <a:off x="10543032" y="2368296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7" name="Shape 35"/>
          <p:cNvSpPr/>
          <p:nvPr/>
        </p:nvSpPr>
        <p:spPr>
          <a:xfrm>
            <a:off x="10543032" y="2843784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8" name="Shape 36"/>
          <p:cNvSpPr/>
          <p:nvPr/>
        </p:nvSpPr>
        <p:spPr>
          <a:xfrm>
            <a:off x="10543032" y="3319272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9" name="Shape 37"/>
          <p:cNvSpPr/>
          <p:nvPr/>
        </p:nvSpPr>
        <p:spPr>
          <a:xfrm>
            <a:off x="10543032" y="3794760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0" name="Shape 38"/>
          <p:cNvSpPr/>
          <p:nvPr/>
        </p:nvSpPr>
        <p:spPr>
          <a:xfrm>
            <a:off x="10543032" y="4270248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1" name="Shape 39"/>
          <p:cNvSpPr/>
          <p:nvPr/>
        </p:nvSpPr>
        <p:spPr>
          <a:xfrm>
            <a:off x="10543032" y="4745736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2" name="Shape 40"/>
          <p:cNvSpPr/>
          <p:nvPr/>
        </p:nvSpPr>
        <p:spPr>
          <a:xfrm>
            <a:off x="11018520" y="1417320"/>
            <a:ext cx="402336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3" name="Shape 41"/>
          <p:cNvSpPr/>
          <p:nvPr/>
        </p:nvSpPr>
        <p:spPr>
          <a:xfrm>
            <a:off x="11018520" y="1892808"/>
            <a:ext cx="402336" cy="40233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4" name="Shape 42"/>
          <p:cNvSpPr/>
          <p:nvPr/>
        </p:nvSpPr>
        <p:spPr>
          <a:xfrm>
            <a:off x="11018520" y="2368296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5" name="Shape 43"/>
          <p:cNvSpPr/>
          <p:nvPr/>
        </p:nvSpPr>
        <p:spPr>
          <a:xfrm>
            <a:off x="11018520" y="2843784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6" name="Shape 44"/>
          <p:cNvSpPr/>
          <p:nvPr/>
        </p:nvSpPr>
        <p:spPr>
          <a:xfrm>
            <a:off x="11018520" y="3319272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7" name="Shape 45"/>
          <p:cNvSpPr/>
          <p:nvPr/>
        </p:nvSpPr>
        <p:spPr>
          <a:xfrm>
            <a:off x="11018520" y="3794760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8" name="Shape 46"/>
          <p:cNvSpPr/>
          <p:nvPr/>
        </p:nvSpPr>
        <p:spPr>
          <a:xfrm>
            <a:off x="11018520" y="4270248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9" name="Shape 47"/>
          <p:cNvSpPr/>
          <p:nvPr/>
        </p:nvSpPr>
        <p:spPr>
          <a:xfrm>
            <a:off x="11018520" y="4745736"/>
            <a:ext cx="402336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0" name="Text 48"/>
          <p:cNvSpPr/>
          <p:nvPr>
            <p:ph idx="148" type="body" hasCustomPrompt="1"/>
          </p:nvPr>
        </p:nvSpPr>
        <p:spPr>
          <a:xfrm>
            <a:off x="804672" y="1417320"/>
            <a:ext cx="6858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b="1" spc="50" kern="0" dirty="0">
                <a:solidFill>
                  <a:schemeClr val="accent1"/>
                </a:solidFill>
              </a:rPr>
              <a:t>H0 · tarih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548640" y="1504188"/>
            <a:ext cx="155448" cy="1554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2" name="Text 49"/>
          <p:cNvSpPr/>
          <p:nvPr>
            <p:ph idx="150" type="title" hasCustomPrompt="1"/>
          </p:nvPr>
        </p:nvSpPr>
        <p:spPr>
          <a:xfrm>
            <a:off x="548640" y="1920240"/>
            <a:ext cx="77724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Dersin başlığı</a:t>
            </a:r>
            <a:endParaRPr lang="en-US" sz="4000" dirty="0"/>
          </a:p>
        </p:txBody>
      </p:sp>
      <p:sp>
        <p:nvSpPr>
          <p:cNvPr id="53" name="Text 49"/>
          <p:cNvSpPr/>
          <p:nvPr>
            <p:ph idx="151" type="body" hasCustomPrompt="1"/>
          </p:nvPr>
        </p:nvSpPr>
        <p:spPr>
          <a:xfrm>
            <a:off x="548640" y="374904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Alt başlık: haftanın sorusu</a:t>
            </a:r>
            <a:endParaRPr lang="en-US" sz="2000" dirty="0"/>
          </a:p>
        </p:txBody>
      </p:sp>
      <p:sp>
        <p:nvSpPr>
          <p:cNvPr id="54" name="Text 49"/>
          <p:cNvSpPr/>
          <p:nvPr/>
        </p:nvSpPr>
        <p:spPr>
          <a:xfrm>
            <a:off x="548640" y="5257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Doç. Dr. Alper Özpınar</a:t>
            </a:r>
            <a:endParaRPr lang="en-US" sz="1600" dirty="0"/>
          </a:p>
        </p:txBody>
      </p:sp>
      <p:sp>
        <p:nvSpPr>
          <p:cNvPr id="55" name="Text 50"/>
          <p:cNvSpPr/>
          <p:nvPr/>
        </p:nvSpPr>
        <p:spPr>
          <a:xfrm>
            <a:off x="548640" y="55778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FTEK 503 Finansal Programlama · İbn Haldun Üniversitesi, Finansal Teknolojiler Yüksek Lisans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LU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2148840"/>
            <a:ext cx="310896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2523744"/>
            <a:ext cx="310896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2898648"/>
            <a:ext cx="310896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3273552"/>
            <a:ext cx="310896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0" y="3648456"/>
            <a:ext cx="310896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0" y="4023360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0067544" y="2148840"/>
            <a:ext cx="310896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10067544" y="2523744"/>
            <a:ext cx="310896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10067544" y="2898648"/>
            <a:ext cx="310896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10067544" y="3273552"/>
            <a:ext cx="310896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67544" y="3648456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67544" y="4023360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42448" y="2148840"/>
            <a:ext cx="310896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42448" y="2523744"/>
            <a:ext cx="310896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42448" y="2898648"/>
            <a:ext cx="310896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42448" y="3273552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Shape 16"/>
          <p:cNvSpPr/>
          <p:nvPr/>
        </p:nvSpPr>
        <p:spPr>
          <a:xfrm>
            <a:off x="10442448" y="3648456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9" name="Shape 17"/>
          <p:cNvSpPr/>
          <p:nvPr/>
        </p:nvSpPr>
        <p:spPr>
          <a:xfrm>
            <a:off x="10442448" y="4023360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Shape 18"/>
          <p:cNvSpPr/>
          <p:nvPr/>
        </p:nvSpPr>
        <p:spPr>
          <a:xfrm>
            <a:off x="10817352" y="2148840"/>
            <a:ext cx="310896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Shape 19"/>
          <p:cNvSpPr/>
          <p:nvPr/>
        </p:nvSpPr>
        <p:spPr>
          <a:xfrm>
            <a:off x="10817352" y="2523744"/>
            <a:ext cx="310896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Shape 20"/>
          <p:cNvSpPr/>
          <p:nvPr/>
        </p:nvSpPr>
        <p:spPr>
          <a:xfrm>
            <a:off x="10817352" y="2898648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Shape 21"/>
          <p:cNvSpPr/>
          <p:nvPr/>
        </p:nvSpPr>
        <p:spPr>
          <a:xfrm>
            <a:off x="10817352" y="3273552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Shape 22"/>
          <p:cNvSpPr/>
          <p:nvPr/>
        </p:nvSpPr>
        <p:spPr>
          <a:xfrm>
            <a:off x="10817352" y="3648456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hape 23"/>
          <p:cNvSpPr/>
          <p:nvPr/>
        </p:nvSpPr>
        <p:spPr>
          <a:xfrm>
            <a:off x="10817352" y="4023360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Shape 24"/>
          <p:cNvSpPr/>
          <p:nvPr/>
        </p:nvSpPr>
        <p:spPr>
          <a:xfrm>
            <a:off x="11192256" y="2148840"/>
            <a:ext cx="310896" cy="31089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7" name="Shape 25"/>
          <p:cNvSpPr/>
          <p:nvPr/>
        </p:nvSpPr>
        <p:spPr>
          <a:xfrm>
            <a:off x="11192256" y="2523744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92256" y="2898648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92256" y="3273552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92256" y="3648456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1" name="Shape 29"/>
          <p:cNvSpPr/>
          <p:nvPr/>
        </p:nvSpPr>
        <p:spPr>
          <a:xfrm>
            <a:off x="11192256" y="4023360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2" name="Text 30"/>
          <p:cNvSpPr/>
          <p:nvPr>
            <p:ph idx="130" type="body" hasCustomPrompt="1"/>
          </p:nvPr>
        </p:nvSpPr>
        <p:spPr>
          <a:xfrm>
            <a:off x="548640" y="1097280"/>
            <a:ext cx="3657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600" b="1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01</a:t>
            </a:r>
            <a:endParaRPr lang="en-US" sz="9600" dirty="0"/>
          </a:p>
        </p:txBody>
      </p:sp>
      <p:sp>
        <p:nvSpPr>
          <p:cNvPr id="33" name="Text 30"/>
          <p:cNvSpPr/>
          <p:nvPr>
            <p:ph idx="131" type="title" hasCustomPrompt="1"/>
          </p:nvPr>
        </p:nvSpPr>
        <p:spPr>
          <a:xfrm>
            <a:off x="548640" y="2606040"/>
            <a:ext cx="859536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Bölüm başlığı</a:t>
            </a:r>
            <a:endParaRPr lang="en-US" sz="4000" dirty="0"/>
          </a:p>
        </p:txBody>
      </p:sp>
      <p:sp>
        <p:nvSpPr>
          <p:cNvPr id="34" name="Text 30"/>
          <p:cNvSpPr/>
          <p:nvPr>
            <p:ph idx="132" type="body" hasCustomPrompt="1"/>
          </p:nvPr>
        </p:nvSpPr>
        <p:spPr>
          <a:xfrm>
            <a:off x="548640" y="4114800"/>
            <a:ext cx="8595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Bölümün tek cümlelik özeti</a:t>
            </a:r>
            <a:endParaRPr lang="en-US" sz="2000" dirty="0"/>
          </a:p>
        </p:txBody>
      </p:sp>
      <p:sp>
        <p:nvSpPr>
          <p:cNvPr id="35" name="Text 30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FTEK 503 Finansal Programlama · Güz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LI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7492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Bölüm · konu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Slayt başlığı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FTEK 503 Finansal Programlama · Güz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ERI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7492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Bölüm · konu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Slayt başlığı</a:t>
            </a:r>
            <a:endParaRPr lang="en-US" sz="3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1828800"/>
            <a:ext cx="11094415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800"/>
              </a:spcAft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Metin</a:t>
            </a:r>
            <a:endParaRPr lang="en-US" sz="1800" dirty="0"/>
          </a:p>
        </p:txBody>
      </p:sp>
      <p:sp>
        <p:nvSpPr>
          <p:cNvPr id="6" name="Text 1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FTEK 503 Finansal Programlama · Güz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ERIK_NO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7492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Bölüm · konu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Slayt başlığı</a:t>
            </a:r>
            <a:endParaRPr lang="en-US" sz="3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1828800"/>
            <a:ext cx="676656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800"/>
              </a:spcAft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Metin</a:t>
            </a:r>
            <a:endParaRPr lang="en-US" sz="1800" dirty="0"/>
          </a:p>
        </p:txBody>
      </p:sp>
      <p:sp>
        <p:nvSpPr>
          <p:cNvPr id="6" name="Shape 1"/>
          <p:cNvSpPr/>
          <p:nvPr/>
        </p:nvSpPr>
        <p:spPr>
          <a:xfrm>
            <a:off x="7708392" y="1828800"/>
            <a:ext cx="3931920" cy="4206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8028432" y="2103120"/>
            <a:ext cx="32918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b="1" spc="50" kern="0" dirty="0">
                <a:solidFill>
                  <a:schemeClr val="accent1"/>
                </a:solidFill>
              </a:rPr>
              <a:t>Yan not</a:t>
            </a:r>
            <a:endParaRPr lang="en-US" sz="14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8028432" y="2560320"/>
            <a:ext cx="3291840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600"/>
              </a:spcAft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Yan notun metni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FTEK 503 Finansal Programlama · Güz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KI_SUTU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7492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Bölüm · konu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Slayt başlığı</a:t>
            </a:r>
            <a:endParaRPr lang="en-US" sz="3400" dirty="0"/>
          </a:p>
        </p:txBody>
      </p:sp>
      <p:sp>
        <p:nvSpPr>
          <p:cNvPr id="5" name="Shape 1"/>
          <p:cNvSpPr/>
          <p:nvPr/>
        </p:nvSpPr>
        <p:spPr>
          <a:xfrm>
            <a:off x="548640" y="1828800"/>
            <a:ext cx="5367528" cy="3794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Shape 2"/>
          <p:cNvSpPr/>
          <p:nvPr/>
        </p:nvSpPr>
        <p:spPr>
          <a:xfrm>
            <a:off x="6275527" y="1828800"/>
            <a:ext cx="5367528" cy="3794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868680" y="2057400"/>
            <a:ext cx="475488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Sol başlık</a:t>
            </a:r>
            <a:endParaRPr lang="en-US" sz="18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868680" y="2606040"/>
            <a:ext cx="475488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600"/>
              </a:spcAft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Sol metin</a:t>
            </a:r>
            <a:endParaRPr lang="en-US" sz="1600" dirty="0"/>
          </a:p>
        </p:txBody>
      </p:sp>
      <p:sp>
        <p:nvSpPr>
          <p:cNvPr id="9" name="Text 3"/>
          <p:cNvSpPr/>
          <p:nvPr>
            <p:ph idx="107" type="body" hasCustomPrompt="1"/>
          </p:nvPr>
        </p:nvSpPr>
        <p:spPr>
          <a:xfrm>
            <a:off x="6595567" y="2057400"/>
            <a:ext cx="475488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Sağ başlık</a:t>
            </a:r>
            <a:endParaRPr lang="en-US" sz="1800" dirty="0"/>
          </a:p>
        </p:txBody>
      </p:sp>
      <p:sp>
        <p:nvSpPr>
          <p:cNvPr id="10" name="Text 3"/>
          <p:cNvSpPr/>
          <p:nvPr>
            <p:ph idx="108" type="body" hasCustomPrompt="1"/>
          </p:nvPr>
        </p:nvSpPr>
        <p:spPr>
          <a:xfrm>
            <a:off x="6595567" y="2606040"/>
            <a:ext cx="475488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600"/>
              </a:spcAft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Sağ metin</a:t>
            </a:r>
            <a:endParaRPr lang="en-US" sz="1600" dirty="0"/>
          </a:p>
        </p:txBody>
      </p:sp>
      <p:sp>
        <p:nvSpPr>
          <p:cNvPr id="11" name="Text 3"/>
          <p:cNvSpPr/>
          <p:nvPr>
            <p:ph idx="109" type="body" hasCustomPrompt="1"/>
          </p:nvPr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Alt not</a:t>
            </a:r>
            <a:endParaRPr lang="en-US" sz="1300" dirty="0"/>
          </a:p>
        </p:txBody>
      </p:sp>
      <p:sp>
        <p:nvSpPr>
          <p:cNvPr id="12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FTEK 503 Finansal Programlama · Güz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ORS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7492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Bölüm · konu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Slayt başlığı</a:t>
            </a:r>
            <a:endParaRPr lang="en-US" sz="340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548640" y="1783080"/>
            <a:ext cx="7498080" cy="4311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accent3"/>
                </a:solidFill>
              </a:rPr>
              <a:t>Görsel</a:t>
            </a:r>
            <a:endParaRPr lang="en-US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8412480" y="1874520"/>
            <a:ext cx="3227832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Yorum</a:t>
            </a:r>
            <a:endParaRPr lang="en-US" sz="1600" dirty="0"/>
          </a:p>
        </p:txBody>
      </p:sp>
      <p:sp>
        <p:nvSpPr>
          <p:cNvPr id="7" name="Text 1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FTEK 503 Finansal Programlama · Güz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8"/>
          <p:cNvSpPr/>
          <p:nvPr>
            <p:ph idx="148" type="body" hasCustomPrompt="1"/>
          </p:nvPr>
        </p:nvSpPr>
        <p:spPr>
          <a:xfrm>
            <a:off x="804672" y="1417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50" kern="0" dirty="0">
                <a:solidFill>
                  <a:schemeClr val="accent1"/>
                </a:solidFill>
              </a:rPr>
              <a:t>4. oturum · 13 Ekim 2026</a:t>
            </a:r>
            <a:endParaRPr lang="en-US" sz="1400" dirty="0"/>
          </a:p>
        </p:txBody>
      </p:sp>
      <p:sp>
        <p:nvSpPr>
          <p:cNvPr id="3" name="Text 49"/>
          <p:cNvSpPr/>
          <p:nvPr>
            <p:ph idx="150" type="title" hasCustomPrompt="1"/>
          </p:nvPr>
        </p:nvSpPr>
        <p:spPr>
          <a:xfrm>
            <a:off x="548640" y="192024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Excel II: kredi ve karar araçları</a:t>
            </a:r>
            <a:endParaRPr lang="en-US" sz="4000" dirty="0"/>
          </a:p>
        </p:txBody>
      </p:sp>
      <p:sp>
        <p:nvSpPr>
          <p:cNvPr id="4" name="Text 49"/>
          <p:cNvSpPr/>
          <p:nvPr>
            <p:ph idx="151" type="body" hasCustomPrompt="1"/>
          </p:nvPr>
        </p:nvSpPr>
        <p:spPr>
          <a:xfrm>
            <a:off x="548640" y="37490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İhtiyaç kredisi faizi %63: üç teklif, tek karar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Açılış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Dersin akışı</a:t>
            </a:r>
            <a:endParaRPr lang="en-US" sz="3400" dirty="0"/>
          </a:p>
        </p:txBody>
      </p:sp>
      <p:sp>
        <p:nvSpPr>
          <p:cNvPr id="4" name="blok-kart-0"/>
          <p:cNvSpPr/>
          <p:nvPr/>
        </p:nvSpPr>
        <p:spPr>
          <a:xfrm>
            <a:off x="548640" y="1874520"/>
            <a:ext cx="11094415" cy="1143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blok-no-0"/>
          <p:cNvSpPr txBox="1"/>
          <p:nvPr/>
        </p:nvSpPr>
        <p:spPr>
          <a:xfrm>
            <a:off x="868680" y="219456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blok-saat-0"/>
          <p:cNvSpPr txBox="1"/>
          <p:nvPr/>
        </p:nvSpPr>
        <p:spPr>
          <a:xfrm>
            <a:off x="1645920" y="2148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13:30-14:20</a:t>
            </a:r>
            <a:endParaRPr lang="en-US" sz="2400" dirty="0"/>
          </a:p>
        </p:txBody>
      </p:sp>
      <p:sp>
        <p:nvSpPr>
          <p:cNvPr id="7" name="blok-baslik-0"/>
          <p:cNvSpPr txBox="1"/>
          <p:nvPr/>
        </p:nvSpPr>
        <p:spPr>
          <a:xfrm>
            <a:off x="4206240" y="21488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Geçen haftanın özeti · kredi ve amortisman</a:t>
            </a:r>
            <a:endParaRPr lang="en-US" sz="2400" dirty="0"/>
          </a:p>
        </p:txBody>
      </p:sp>
      <p:sp>
        <p:nvSpPr>
          <p:cNvPr id="8" name="blok-kart-1"/>
          <p:cNvSpPr/>
          <p:nvPr/>
        </p:nvSpPr>
        <p:spPr>
          <a:xfrm>
            <a:off x="548640" y="3200400"/>
            <a:ext cx="11094415" cy="1143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blok-no-1"/>
          <p:cNvSpPr txBox="1"/>
          <p:nvPr/>
        </p:nvSpPr>
        <p:spPr>
          <a:xfrm>
            <a:off x="868680" y="352044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blok-saat-1"/>
          <p:cNvSpPr txBox="1"/>
          <p:nvPr/>
        </p:nvSpPr>
        <p:spPr>
          <a:xfrm>
            <a:off x="1645920" y="3474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14:30-15:20</a:t>
            </a:r>
            <a:endParaRPr lang="en-US" sz="2400" dirty="0"/>
          </a:p>
        </p:txBody>
      </p:sp>
      <p:sp>
        <p:nvSpPr>
          <p:cNvPr id="11" name="blok-baslik-1"/>
          <p:cNvSpPr txBox="1"/>
          <p:nvPr/>
        </p:nvSpPr>
        <p:spPr>
          <a:xfrm>
            <a:off x="4206240" y="347472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NPV, IRR · Goal Seek · Data Table · IF</a:t>
            </a:r>
            <a:endParaRPr lang="en-US" sz="2400" dirty="0"/>
          </a:p>
        </p:txBody>
      </p:sp>
      <p:sp>
        <p:nvSpPr>
          <p:cNvPr id="12" name="blok-kart-2"/>
          <p:cNvSpPr/>
          <p:nvPr/>
        </p:nvSpPr>
        <p:spPr>
          <a:xfrm>
            <a:off x="548640" y="4526280"/>
            <a:ext cx="11094415" cy="1143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blok-no-2"/>
          <p:cNvSpPr txBox="1"/>
          <p:nvPr/>
        </p:nvSpPr>
        <p:spPr>
          <a:xfrm>
            <a:off x="868680" y="4846320"/>
            <a:ext cx="502920" cy="5029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blok-saat-2"/>
          <p:cNvSpPr txBox="1"/>
          <p:nvPr/>
        </p:nvSpPr>
        <p:spPr>
          <a:xfrm>
            <a:off x="1645920" y="4800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15:30-16:20</a:t>
            </a:r>
            <a:endParaRPr lang="en-US" sz="2400" dirty="0"/>
          </a:p>
        </p:txBody>
      </p:sp>
      <p:sp>
        <p:nvSpPr>
          <p:cNvPr id="15" name="blok-baslik-2"/>
          <p:cNvSpPr txBox="1"/>
          <p:nvPr/>
        </p:nvSpPr>
        <p:spPr>
          <a:xfrm>
            <a:off x="4206240" y="480060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Uygulama G1-G4: üç kredi teklifi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Açılış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Bu dersin kısaltmaları</a:t>
            </a:r>
            <a:endParaRPr lang="en-US" sz="3400" dirty="0"/>
          </a:p>
        </p:txBody>
      </p:sp>
      <p:graphicFrame>
        <p:nvGraphicFramePr>
          <p:cNvPr id="4" name="kisaltma-so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440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240280"/>
                <a:gridCol w="2240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Kısaltma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Açılımı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Türkçesi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Bugünkü değer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Gelecek değer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Taksit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Periods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Dönem sayısı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IPMT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Payment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Taksitin faiz payı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PPMT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 Payment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Taksitin anapara payı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Present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bugünkü değer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Rate of Return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İç verim oranı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kisaltma-sa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783080"/>
          <a:ext cx="5440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37744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Kısaltma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Açılımı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Türkçesi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XIRR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IRR, tarihli akış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Tarihli iç verim oranı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Annual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Yıllık etkin oran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EYFO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Efektif Yıllık Faiz Oranı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Kredinin yıllık maliyeti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KKDF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Kaynak Kullanımını Destekleme Fonu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Faize eklenen fon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BSMV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Banka ve Sigorta Muameleleri Vergisi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Faize eklenen vergi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Kredili Mevduat Hesabı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Eksi bakiye kredisi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Politikası Kurulu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TCMB'nin karar kurulu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Baz puan: 0,01 puan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0"/>
          <p:cNvSpPr/>
          <p:nvPr>
            <p:ph idx="130" type="body" hasCustomPrompt="1"/>
          </p:nvPr>
        </p:nvSpPr>
        <p:spPr>
          <a:xfrm>
            <a:off x="548640" y="10972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01</a:t>
            </a:r>
            <a:endParaRPr lang="en-US" sz="9600" dirty="0"/>
          </a:p>
        </p:txBody>
      </p:sp>
      <p:sp>
        <p:nvSpPr>
          <p:cNvPr id="3" name="Text 30"/>
          <p:cNvSpPr/>
          <p:nvPr>
            <p:ph idx="131" type="title" hasCustomPrompt="1"/>
          </p:nvPr>
        </p:nvSpPr>
        <p:spPr>
          <a:xfrm>
            <a:off x="548640" y="2606040"/>
            <a:ext cx="8595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Geçen haftanın özeti</a:t>
            </a:r>
            <a:endParaRPr lang="en-US" sz="4000" dirty="0"/>
          </a:p>
        </p:txBody>
      </p:sp>
      <p:sp>
        <p:nvSpPr>
          <p:cNvPr id="4" name="Text 30"/>
          <p:cNvSpPr/>
          <p:nvPr>
            <p:ph idx="132" type="body" hasCustomPrompt="1"/>
          </p:nvPr>
        </p:nvSpPr>
        <p:spPr>
          <a:xfrm>
            <a:off x="548640" y="41148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Faiz türleri, nominal ve etkin oran, reel faiz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01 · Özet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Aynı yıllık %40, dört farklı sonuç</a:t>
            </a:r>
            <a:endParaRPr lang="en-US" sz="3400" dirty="0"/>
          </a:p>
        </p:txBody>
      </p:sp>
      <p:sp>
        <p:nvSpPr>
          <p:cNvPr id="4" name="ozet-kart-0"/>
          <p:cNvSpPr/>
          <p:nvPr/>
        </p:nvSpPr>
        <p:spPr>
          <a:xfrm>
            <a:off x="548640" y="1874520"/>
            <a:ext cx="2624328" cy="3108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ozet-etiket-0"/>
          <p:cNvSpPr txBox="1"/>
          <p:nvPr/>
        </p:nvSpPr>
        <p:spPr>
          <a:xfrm>
            <a:off x="822960" y="210312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Basit</a:t>
            </a:r>
            <a:endParaRPr lang="en-US" sz="1300" dirty="0"/>
          </a:p>
        </p:txBody>
      </p:sp>
      <p:sp>
        <p:nvSpPr>
          <p:cNvPr id="6" name="ozet-sayi-0"/>
          <p:cNvSpPr txBox="1"/>
          <p:nvPr/>
        </p:nvSpPr>
        <p:spPr>
          <a:xfrm>
            <a:off x="822960" y="256032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220.000</a:t>
            </a:r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 TL</a:t>
            </a:r>
            <a:endParaRPr lang="en-US" sz="3200" dirty="0"/>
          </a:p>
        </p:txBody>
      </p:sp>
      <p:sp>
        <p:nvSpPr>
          <p:cNvPr id="7" name="ozet-formul-0"/>
          <p:cNvSpPr txBox="1"/>
          <p:nvPr/>
        </p:nvSpPr>
        <p:spPr>
          <a:xfrm>
            <a:off x="822960" y="3657600"/>
            <a:ext cx="2167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=B1*(1+B2*B3)</a:t>
            </a:r>
            <a:endParaRPr lang="en-US" sz="1300" dirty="0"/>
          </a:p>
        </p:txBody>
      </p:sp>
      <p:sp>
        <p:nvSpPr>
          <p:cNvPr id="8" name="ozet-kart-1"/>
          <p:cNvSpPr/>
          <p:nvPr/>
        </p:nvSpPr>
        <p:spPr>
          <a:xfrm>
            <a:off x="3371393" y="1874520"/>
            <a:ext cx="2624328" cy="3108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ozet-etiket-1"/>
          <p:cNvSpPr txBox="1"/>
          <p:nvPr/>
        </p:nvSpPr>
        <p:spPr>
          <a:xfrm>
            <a:off x="3645713" y="210312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Yıllık bileşik</a:t>
            </a:r>
            <a:endParaRPr lang="en-US" sz="1300" dirty="0"/>
          </a:p>
        </p:txBody>
      </p:sp>
      <p:sp>
        <p:nvSpPr>
          <p:cNvPr id="10" name="ozet-sayi-1"/>
          <p:cNvSpPr txBox="1"/>
          <p:nvPr/>
        </p:nvSpPr>
        <p:spPr>
          <a:xfrm>
            <a:off x="3645713" y="256032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274.400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 TL</a:t>
            </a:r>
            <a:endParaRPr lang="en-US" sz="3200" dirty="0"/>
          </a:p>
        </p:txBody>
      </p:sp>
      <p:sp>
        <p:nvSpPr>
          <p:cNvPr id="11" name="ozet-formul-1"/>
          <p:cNvSpPr txBox="1"/>
          <p:nvPr/>
        </p:nvSpPr>
        <p:spPr>
          <a:xfrm>
            <a:off x="3645713" y="3657600"/>
            <a:ext cx="2167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=FV(B2,B3,0,-B1)</a:t>
            </a:r>
            <a:endParaRPr lang="en-US" sz="1300" dirty="0"/>
          </a:p>
        </p:txBody>
      </p:sp>
      <p:sp>
        <p:nvSpPr>
          <p:cNvPr id="12" name="ozet-kart-2"/>
          <p:cNvSpPr/>
          <p:nvPr/>
        </p:nvSpPr>
        <p:spPr>
          <a:xfrm>
            <a:off x="6194146" y="1874520"/>
            <a:ext cx="2624328" cy="3108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ozet-etiket-2"/>
          <p:cNvSpPr txBox="1"/>
          <p:nvPr/>
        </p:nvSpPr>
        <p:spPr>
          <a:xfrm>
            <a:off x="6468466" y="210312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Aylık bileşik</a:t>
            </a:r>
            <a:endParaRPr lang="en-US" sz="1300" dirty="0"/>
          </a:p>
        </p:txBody>
      </p:sp>
      <p:sp>
        <p:nvSpPr>
          <p:cNvPr id="14" name="ozet-sayi-2"/>
          <p:cNvSpPr txBox="1"/>
          <p:nvPr/>
        </p:nvSpPr>
        <p:spPr>
          <a:xfrm>
            <a:off x="6468466" y="256032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325.578,57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 TL</a:t>
            </a:r>
            <a:endParaRPr lang="en-US" sz="3200" dirty="0"/>
          </a:p>
        </p:txBody>
      </p:sp>
      <p:sp>
        <p:nvSpPr>
          <p:cNvPr id="15" name="ozet-formul-2"/>
          <p:cNvSpPr txBox="1"/>
          <p:nvPr/>
        </p:nvSpPr>
        <p:spPr>
          <a:xfrm>
            <a:off x="6468466" y="3657600"/>
            <a:ext cx="2167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=B1*(1+B2/12)^(12*B3)</a:t>
            </a:r>
            <a:endParaRPr lang="en-US" sz="1300" dirty="0"/>
          </a:p>
        </p:txBody>
      </p:sp>
      <p:sp>
        <p:nvSpPr>
          <p:cNvPr id="16" name="ozet-kart-3"/>
          <p:cNvSpPr/>
          <p:nvPr/>
        </p:nvSpPr>
        <p:spPr>
          <a:xfrm>
            <a:off x="9016898" y="1874520"/>
            <a:ext cx="2624328" cy="3108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ozet-etiket-3"/>
          <p:cNvSpPr txBox="1"/>
          <p:nvPr/>
        </p:nvSpPr>
        <p:spPr>
          <a:xfrm>
            <a:off x="9291218" y="210312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Sürekli bileşik</a:t>
            </a:r>
            <a:endParaRPr lang="en-US" sz="1300" dirty="0"/>
          </a:p>
        </p:txBody>
      </p:sp>
      <p:sp>
        <p:nvSpPr>
          <p:cNvPr id="18" name="ozet-sayi-3"/>
          <p:cNvSpPr txBox="1"/>
          <p:nvPr/>
        </p:nvSpPr>
        <p:spPr>
          <a:xfrm>
            <a:off x="9291218" y="256032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332.011,69</a:t>
            </a:r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 TL</a:t>
            </a:r>
            <a:endParaRPr lang="en-US" sz="3200" dirty="0"/>
          </a:p>
        </p:txBody>
      </p:sp>
      <p:sp>
        <p:nvSpPr>
          <p:cNvPr id="19" name="ozet-formul-3"/>
          <p:cNvSpPr txBox="1"/>
          <p:nvPr/>
        </p:nvSpPr>
        <p:spPr>
          <a:xfrm>
            <a:off x="9291218" y="3657600"/>
            <a:ext cx="2167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=B1*EXP(B2*B3)</a:t>
            </a:r>
            <a:endParaRPr lang="en-US" sz="1300" dirty="0"/>
          </a:p>
        </p:txBody>
      </p:sp>
      <p:sp>
        <p:nvSpPr>
          <p:cNvPr id="20" name="alt-not"/>
          <p:cNvSpPr txBox="1"/>
          <p:nvPr/>
        </p:nvSpPr>
        <p:spPr>
          <a:xfrm>
            <a:off x="548640" y="52578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100.000 TL · yıllık %40 · 3 yıl. B1 anapara, B2 yıllık oran, B3 yıl.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01 · Özet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Nominal, etkin ve reel oran</a:t>
            </a:r>
            <a:endParaRPr lang="en-US" sz="3400" dirty="0"/>
          </a:p>
        </p:txBody>
      </p:sp>
      <p:sp>
        <p:nvSpPr>
          <p:cNvPr id="4" name="ozet-etkin-kart"/>
          <p:cNvSpPr/>
          <p:nvPr/>
        </p:nvSpPr>
        <p:spPr>
          <a:xfrm>
            <a:off x="548640" y="1874520"/>
            <a:ext cx="5394960" cy="2377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ozet-etkin-etiket"/>
          <p:cNvSpPr txBox="1"/>
          <p:nvPr/>
        </p:nvSpPr>
        <p:spPr>
          <a:xfrm>
            <a:off x="822960" y="2103120"/>
            <a:ext cx="1051560" cy="292608"/>
          </a:xfrm>
          <a:prstGeom prst="roundRect">
            <a:avLst>
              <a:gd name="adj" fmla="val 1875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Excel</a:t>
            </a:r>
            <a:endParaRPr lang="en-US" sz="1100" dirty="0"/>
          </a:p>
        </p:txBody>
      </p:sp>
      <p:sp>
        <p:nvSpPr>
          <p:cNvPr id="6" name="ozet-etkin-kod"/>
          <p:cNvSpPr txBox="1"/>
          <p:nvPr/>
        </p:nvSpPr>
        <p:spPr>
          <a:xfrm>
            <a:off x="822960" y="25146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Aylık %3: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nominal  =B1*12          → %36,00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etkin    =(1+B1)^12-1     → %42,58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etkin    =EFFECT(0.36,12)  → %42,58</a:t>
            </a:r>
            <a:endParaRPr lang="en-US" sz="1500" dirty="0"/>
          </a:p>
        </p:txBody>
      </p:sp>
      <p:sp>
        <p:nvSpPr>
          <p:cNvPr id="7" name="ozet-reel-kart"/>
          <p:cNvSpPr/>
          <p:nvPr/>
        </p:nvSpPr>
        <p:spPr>
          <a:xfrm>
            <a:off x="6245352" y="1874520"/>
            <a:ext cx="5394960" cy="2377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ozet-reel-etiket"/>
          <p:cNvSpPr txBox="1"/>
          <p:nvPr/>
        </p:nvSpPr>
        <p:spPr>
          <a:xfrm>
            <a:off x="6519672" y="2103120"/>
            <a:ext cx="1051560" cy="292608"/>
          </a:xfrm>
          <a:prstGeom prst="roundRect">
            <a:avLst>
              <a:gd name="adj" fmla="val 1875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Excel</a:t>
            </a:r>
            <a:endParaRPr lang="en-US" sz="1100" dirty="0"/>
          </a:p>
        </p:txBody>
      </p:sp>
      <p:sp>
        <p:nvSpPr>
          <p:cNvPr id="9" name="ozet-reel-kod"/>
          <p:cNvSpPr txBox="1"/>
          <p:nvPr/>
        </p:nvSpPr>
        <p:spPr>
          <a:xfrm>
            <a:off x="6519672" y="25146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Politika faizi %37, TÜFE %29,73: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reel  =(1+B1)/(1+B2)-1  → %5,60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kısa yol  B1-B2         → 7,27 puan</a:t>
            </a:r>
            <a:endParaRPr lang="en-US" sz="1500" dirty="0"/>
          </a:p>
        </p:txBody>
      </p:sp>
      <p:sp>
        <p:nvSpPr>
          <p:cNvPr id="10" name="ozet-ders"/>
          <p:cNvSpPr txBox="1"/>
          <p:nvPr/>
        </p:nvSpPr>
        <p:spPr>
          <a:xfrm>
            <a:off x="548640" y="45720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Bir oranın üç sorusu: hangi dönem, bileşik mi, enflasyondan arındırılmış mı?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</a:rPr>
              <a:t>Fark yüzde puanla okunur: %42,58 - %36 = 6,58 puan.</a:t>
            </a:r>
            <a:endParaRPr lang="en-US" sz="1700" dirty="0"/>
          </a:p>
        </p:txBody>
      </p:sp>
      <p:sp>
        <p:nvSpPr>
          <p:cNvPr id="11" name="alt-not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Politika faizi: TCMB, 10.09.2026. TÜFE: Eylül 2026, TÜİK verisi (TCMB Tüketici Fiyatları tablosu).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01 · Eksik kalanlar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Geçen hafta yetişmeyen konular</a:t>
            </a:r>
            <a:endParaRPr lang="en-US" sz="3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182880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Eşit taksitli kredi: taksitin faiz ve anapara olarak ayrışması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Amortisman tablosu: ay ay faiz, anapara ve kalan borç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Kredinin gerçek maliyeti: tahsis ücreti, KKDF, BSMV ve EYFO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Bu konular bugünkü vakanın temelidir</a:t>
            </a:r>
            <a:endParaRPr lang="en-US" sz="18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8028432" y="2103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50" kern="0" dirty="0">
                <a:solidFill>
                  <a:schemeClr val="accent1"/>
                </a:solidFill>
              </a:rPr>
              <a:t>Okuma</a:t>
            </a:r>
            <a:endParaRPr lang="en-US" sz="1400" dirty="0"/>
          </a:p>
        </p:txBody>
      </p:sp>
      <p:sp>
        <p:nvSpPr>
          <p:cNvPr id="6" name="Text 2"/>
          <p:cNvSpPr/>
          <p:nvPr>
            <p:ph idx="106" type="body" hasCustomPrompt="1"/>
          </p:nvPr>
        </p:nvSpPr>
        <p:spPr>
          <a:xfrm>
            <a:off x="8028432" y="256032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H2 faiz ve giriş ders notu, 10. bölüm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3"/>
                </a:solidFill>
              </a:rPr>
              <a:t>El kitabı f03: paranın zaman değeri ve kredi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0"/>
          <p:cNvSpPr/>
          <p:nvPr>
            <p:ph idx="130" type="body" hasCustomPrompt="1"/>
          </p:nvPr>
        </p:nvSpPr>
        <p:spPr>
          <a:xfrm>
            <a:off x="548640" y="10972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02</a:t>
            </a:r>
            <a:endParaRPr lang="en-US" sz="9600" dirty="0"/>
          </a:p>
        </p:txBody>
      </p:sp>
      <p:sp>
        <p:nvSpPr>
          <p:cNvPr id="3" name="Text 30"/>
          <p:cNvSpPr/>
          <p:nvPr>
            <p:ph idx="131" type="title" hasCustomPrompt="1"/>
          </p:nvPr>
        </p:nvSpPr>
        <p:spPr>
          <a:xfrm>
            <a:off x="548640" y="2606040"/>
            <a:ext cx="8595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Vaka ve finans temeli</a:t>
            </a:r>
            <a:endParaRPr lang="en-US" sz="4000" dirty="0"/>
          </a:p>
        </p:txBody>
      </p:sp>
      <p:sp>
        <p:nvSpPr>
          <p:cNvPr id="4" name="Text 30"/>
          <p:cNvSpPr/>
          <p:nvPr>
            <p:ph idx="132" type="body" hasCustomPrompt="1"/>
          </p:nvPr>
        </p:nvSpPr>
        <p:spPr>
          <a:xfrm>
            <a:off x="548640" y="41148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Paranın zaman değeri, anüite ve kredinin maliyeti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02 · Vaka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Haftanın vakası</a:t>
            </a:r>
            <a:endParaRPr lang="en-US" sz="3400" dirty="0"/>
          </a:p>
        </p:txBody>
      </p:sp>
      <p:sp>
        <p:nvSpPr>
          <p:cNvPr id="4" name="vaka-kart"/>
          <p:cNvSpPr/>
          <p:nvPr/>
        </p:nvSpPr>
        <p:spPr>
          <a:xfrm>
            <a:off x="548640" y="1828800"/>
            <a:ext cx="11094415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vaka-soru"/>
          <p:cNvSpPr txBox="1"/>
          <p:nvPr/>
        </p:nvSpPr>
        <p:spPr>
          <a:xfrm>
            <a:off x="1005840" y="1828800"/>
            <a:ext cx="10180015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Vaka sorusu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accent1"/>
                </a:solidFill>
              </a:rPr>
              <a:t>İhtiyaç kredisi faizi yıllık %63. İlandaki “aylık %3,89'dan başlayan faiz” bu ortalamanın neresinde; üç teklifin hangisi ucuz, hangisi bütçeye sığar?</a:t>
            </a:r>
            <a:endParaRPr lang="en-US" sz="1400" dirty="0"/>
          </a:p>
        </p:txBody>
      </p:sp>
      <p:sp>
        <p:nvSpPr>
          <p:cNvPr id="6" name="info-hucre-0"/>
          <p:cNvSpPr txBox="1"/>
          <p:nvPr/>
        </p:nvSpPr>
        <p:spPr>
          <a:xfrm>
            <a:off x="548640" y="4453128"/>
            <a:ext cx="146304" cy="146304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7" name="info-etiket-0"/>
          <p:cNvSpPr txBox="1"/>
          <p:nvPr/>
        </p:nvSpPr>
        <p:spPr>
          <a:xfrm>
            <a:off x="804672" y="43708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Kanca</a:t>
            </a:r>
            <a:endParaRPr lang="en-US" sz="1300" dirty="0"/>
          </a:p>
        </p:txBody>
      </p:sp>
      <p:sp>
        <p:nvSpPr>
          <p:cNvPr id="8" name="info-baslik-0"/>
          <p:cNvSpPr txBox="1"/>
          <p:nvPr/>
        </p:nvSpPr>
        <p:spPr>
          <a:xfrm>
            <a:off x="548640" y="4754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TCMB PPK özeti, 17.09.2026 [1]</a:t>
            </a:r>
            <a:endParaRPr lang="en-US" sz="1800" dirty="0"/>
          </a:p>
        </p:txBody>
      </p:sp>
      <p:sp>
        <p:nvSpPr>
          <p:cNvPr id="9" name="info-hucre-1"/>
          <p:cNvSpPr txBox="1"/>
          <p:nvPr/>
        </p:nvSpPr>
        <p:spPr>
          <a:xfrm>
            <a:off x="4307738" y="4453128"/>
            <a:ext cx="146304" cy="14630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0" name="info-etiket-1"/>
          <p:cNvSpPr txBox="1"/>
          <p:nvPr/>
        </p:nvSpPr>
        <p:spPr>
          <a:xfrm>
            <a:off x="4563770" y="43708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Excel</a:t>
            </a:r>
            <a:endParaRPr lang="en-US" sz="1300" dirty="0"/>
          </a:p>
        </p:txBody>
      </p:sp>
      <p:sp>
        <p:nvSpPr>
          <p:cNvPr id="11" name="info-baslik-1"/>
          <p:cNvSpPr txBox="1"/>
          <p:nvPr/>
        </p:nvSpPr>
        <p:spPr>
          <a:xfrm>
            <a:off x="4307738" y="4754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Karar ve Uygulama sayfaları</a:t>
            </a:r>
            <a:endParaRPr lang="en-US" sz="1800" dirty="0"/>
          </a:p>
        </p:txBody>
      </p:sp>
      <p:sp>
        <p:nvSpPr>
          <p:cNvPr id="12" name="info-hucre-2"/>
          <p:cNvSpPr txBox="1"/>
          <p:nvPr/>
        </p:nvSpPr>
        <p:spPr>
          <a:xfrm>
            <a:off x="8066837" y="4453128"/>
            <a:ext cx="146304" cy="146304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3" name="info-etiket-2"/>
          <p:cNvSpPr txBox="1"/>
          <p:nvPr/>
        </p:nvSpPr>
        <p:spPr>
          <a:xfrm>
            <a:off x="8322869" y="43708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Python</a:t>
            </a:r>
            <a:endParaRPr lang="en-US" sz="1300" dirty="0"/>
          </a:p>
        </p:txBody>
      </p:sp>
      <p:sp>
        <p:nvSpPr>
          <p:cNvPr id="14" name="info-baslik-2"/>
          <p:cNvSpPr txBox="1"/>
          <p:nvPr/>
        </p:nvSpPr>
        <p:spPr>
          <a:xfrm>
            <a:off x="8066837" y="4754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Colab defteri: G3, G4</a:t>
            </a:r>
            <a:endParaRPr lang="en-US" sz="1800" dirty="0"/>
          </a:p>
        </p:txBody>
      </p:sp>
      <p:sp>
        <p:nvSpPr>
          <p:cNvPr id="15" name="alt-not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%63: 4 Eylül 2026 ile biten hafta, KMH hariç ihtiyaç kredisi. Teklifler varsayımsaldır; kredi tavsiyesi değildir.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02 · Tahmin sorusu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Yıllık %63 aylık kaç eder?</a:t>
            </a:r>
            <a:endParaRPr lang="en-US" sz="3400" dirty="0"/>
          </a:p>
        </p:txBody>
      </p:sp>
      <p:sp>
        <p:nvSpPr>
          <p:cNvPr id="4" name="secenek-kart-0"/>
          <p:cNvSpPr/>
          <p:nvPr/>
        </p:nvSpPr>
        <p:spPr>
          <a:xfrm>
            <a:off x="548640" y="2011680"/>
            <a:ext cx="3576218" cy="2377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secenek-no-0"/>
          <p:cNvSpPr txBox="1"/>
          <p:nvPr/>
        </p:nvSpPr>
        <p:spPr>
          <a:xfrm>
            <a:off x="822960" y="228600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6" name="secenek-sayi-0"/>
          <p:cNvSpPr txBox="1"/>
          <p:nvPr/>
        </p:nvSpPr>
        <p:spPr>
          <a:xfrm>
            <a:off x="822960" y="2971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%5,25</a:t>
            </a:r>
            <a:endParaRPr lang="en-US" sz="4000" dirty="0"/>
          </a:p>
        </p:txBody>
      </p:sp>
      <p:sp>
        <p:nvSpPr>
          <p:cNvPr id="7" name="secenek-metin-0"/>
          <p:cNvSpPr txBox="1"/>
          <p:nvPr/>
        </p:nvSpPr>
        <p:spPr>
          <a:xfrm>
            <a:off x="822960" y="3794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63 / 12</a:t>
            </a:r>
            <a:endParaRPr lang="en-US" sz="1500" dirty="0"/>
          </a:p>
        </p:txBody>
      </p:sp>
      <p:sp>
        <p:nvSpPr>
          <p:cNvPr id="8" name="secenek-kart-1"/>
          <p:cNvSpPr/>
          <p:nvPr/>
        </p:nvSpPr>
        <p:spPr>
          <a:xfrm>
            <a:off x="4307738" y="2011680"/>
            <a:ext cx="3576218" cy="2377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secenek-no-1"/>
          <p:cNvSpPr txBox="1"/>
          <p:nvPr/>
        </p:nvSpPr>
        <p:spPr>
          <a:xfrm>
            <a:off x="4582058" y="228600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0" name="secenek-sayi-1"/>
          <p:cNvSpPr txBox="1"/>
          <p:nvPr/>
        </p:nvSpPr>
        <p:spPr>
          <a:xfrm>
            <a:off x="4582058" y="2971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%4,16</a:t>
            </a:r>
            <a:endParaRPr lang="en-US" sz="4000" dirty="0"/>
          </a:p>
        </p:txBody>
      </p:sp>
      <p:sp>
        <p:nvSpPr>
          <p:cNvPr id="11" name="secenek-metin-1"/>
          <p:cNvSpPr txBox="1"/>
          <p:nvPr/>
        </p:nvSpPr>
        <p:spPr>
          <a:xfrm>
            <a:off x="4582058" y="3794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1,63^(1/12) - 1</a:t>
            </a:r>
            <a:endParaRPr lang="en-US" sz="1500" dirty="0"/>
          </a:p>
        </p:txBody>
      </p:sp>
      <p:sp>
        <p:nvSpPr>
          <p:cNvPr id="12" name="secenek-kart-2"/>
          <p:cNvSpPr/>
          <p:nvPr/>
        </p:nvSpPr>
        <p:spPr>
          <a:xfrm>
            <a:off x="8066837" y="2011680"/>
            <a:ext cx="3576218" cy="2377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secenek-no-2"/>
          <p:cNvSpPr txBox="1"/>
          <p:nvPr/>
        </p:nvSpPr>
        <p:spPr>
          <a:xfrm>
            <a:off x="8341157" y="228600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14" name="secenek-sayi-2"/>
          <p:cNvSpPr txBox="1"/>
          <p:nvPr/>
        </p:nvSpPr>
        <p:spPr>
          <a:xfrm>
            <a:off x="8341157" y="2971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%3,00</a:t>
            </a:r>
            <a:endParaRPr lang="en-US" sz="4000" dirty="0"/>
          </a:p>
        </p:txBody>
      </p:sp>
      <p:sp>
        <p:nvSpPr>
          <p:cNvPr id="15" name="secenek-metin-2"/>
          <p:cNvSpPr txBox="1"/>
          <p:nvPr/>
        </p:nvSpPr>
        <p:spPr>
          <a:xfrm>
            <a:off x="8341157" y="3794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ilandaki oranlara yakın</a:t>
            </a:r>
            <a:endParaRPr lang="en-US" sz="1500" dirty="0"/>
          </a:p>
        </p:txBody>
      </p:sp>
      <p:sp>
        <p:nvSpPr>
          <p:cNvPr id="16" name="alt-not"/>
          <p:cNvSpPr txBox="1"/>
          <p:nvPr/>
        </p:nvSpPr>
        <p:spPr>
          <a:xfrm>
            <a:off x="548640" y="4754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El kaldırarak oylama. Cevap 04. bölümde, TCMB'nin hesap yöntemiyle birlikte.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02 · Finans temeli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Paranın zaman değeri ve anüite</a:t>
            </a:r>
            <a:endParaRPr lang="en-US" sz="3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182880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Bugünkü 1 TL, gelecekteki 1 TL'den değerlidir. Gelecekteki tutar bugüne iskonto edilir: PV = FV / (1 + r)^n.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Anüite: eşit aralıklarla ödenen eşit tutarlar. Eşit taksitli kredi bir anüitedir.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Taksit, bütün taksitlerin bugünkü değerini kredi tutarına eşitleyen tutardır.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Taksit formülü: A = P × r / (1 - (1 + r)^(-n))</a:t>
            </a:r>
            <a:endParaRPr lang="en-US" sz="18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8028432" y="2103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50" kern="0" dirty="0">
                <a:solidFill>
                  <a:schemeClr val="accent1"/>
                </a:solidFill>
              </a:rPr>
              <a:t>Simgeler</a:t>
            </a:r>
            <a:endParaRPr lang="en-US" sz="1400" dirty="0"/>
          </a:p>
        </p:txBody>
      </p:sp>
      <p:sp>
        <p:nvSpPr>
          <p:cNvPr id="6" name="Text 2"/>
          <p:cNvSpPr/>
          <p:nvPr>
            <p:ph idx="106" type="body" hasCustomPrompt="1"/>
          </p:nvPr>
        </p:nvSpPr>
        <p:spPr>
          <a:xfrm>
            <a:off x="8028432" y="256032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  kredi tutarı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  aylık oran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  taksit sayısı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  aylık taksit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02 · Finans temeli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Toplam faiz yanılgısı</a:t>
            </a:r>
            <a:endParaRPr lang="en-US" sz="3400" dirty="0"/>
          </a:p>
        </p:txBody>
      </p:sp>
      <p:sp>
        <p:nvSpPr>
          <p:cNvPr id="4" name="yanilgi-kart-0"/>
          <p:cNvSpPr/>
          <p:nvPr/>
        </p:nvSpPr>
        <p:spPr>
          <a:xfrm>
            <a:off x="548640" y="1874520"/>
            <a:ext cx="3576218" cy="2926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yanilgi-etiket-0"/>
          <p:cNvSpPr txBox="1"/>
          <p:nvPr/>
        </p:nvSpPr>
        <p:spPr>
          <a:xfrm>
            <a:off x="868680" y="2148840"/>
            <a:ext cx="2936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Aylık taksit</a:t>
            </a:r>
            <a:endParaRPr lang="en-US" sz="1300" dirty="0"/>
          </a:p>
        </p:txBody>
      </p:sp>
      <p:sp>
        <p:nvSpPr>
          <p:cNvPr id="6" name="yanilgi-sayi-0"/>
          <p:cNvSpPr txBox="1"/>
          <p:nvPr/>
        </p:nvSpPr>
        <p:spPr>
          <a:xfrm>
            <a:off x="868680" y="2606040"/>
            <a:ext cx="31190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10.046,21 TL</a:t>
            </a:r>
            <a:endParaRPr lang="en-US" sz="3200" dirty="0"/>
          </a:p>
        </p:txBody>
      </p:sp>
      <p:sp>
        <p:nvSpPr>
          <p:cNvPr id="7" name="yanilgi-formul-0"/>
          <p:cNvSpPr txBox="1"/>
          <p:nvPr/>
        </p:nvSpPr>
        <p:spPr>
          <a:xfrm>
            <a:off x="868680" y="3657600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100.000 TL · aylık %3 · 12 ay</a:t>
            </a:r>
            <a:endParaRPr lang="en-US" sz="1400" dirty="0"/>
          </a:p>
        </p:txBody>
      </p:sp>
      <p:sp>
        <p:nvSpPr>
          <p:cNvPr id="8" name="yanilgi-kart-1"/>
          <p:cNvSpPr/>
          <p:nvPr/>
        </p:nvSpPr>
        <p:spPr>
          <a:xfrm>
            <a:off x="4307738" y="1874520"/>
            <a:ext cx="3576218" cy="2926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yanilgi-etiket-1"/>
          <p:cNvSpPr txBox="1"/>
          <p:nvPr/>
        </p:nvSpPr>
        <p:spPr>
          <a:xfrm>
            <a:off x="4627778" y="2148840"/>
            <a:ext cx="2936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Gerçek toplam faiz</a:t>
            </a:r>
            <a:endParaRPr lang="en-US" sz="1300" dirty="0"/>
          </a:p>
        </p:txBody>
      </p:sp>
      <p:sp>
        <p:nvSpPr>
          <p:cNvPr id="10" name="yanilgi-sayi-1"/>
          <p:cNvSpPr txBox="1"/>
          <p:nvPr/>
        </p:nvSpPr>
        <p:spPr>
          <a:xfrm>
            <a:off x="4627778" y="2606040"/>
            <a:ext cx="31190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20.554,50 TL</a:t>
            </a:r>
            <a:endParaRPr lang="en-US" sz="3200" dirty="0"/>
          </a:p>
        </p:txBody>
      </p:sp>
      <p:sp>
        <p:nvSpPr>
          <p:cNvPr id="11" name="yanilgi-formul-1"/>
          <p:cNvSpPr txBox="1"/>
          <p:nvPr/>
        </p:nvSpPr>
        <p:spPr>
          <a:xfrm>
            <a:off x="4627778" y="3657600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taksit × 12 - 100.000</a:t>
            </a:r>
            <a:endParaRPr lang="en-US" sz="1400" dirty="0"/>
          </a:p>
        </p:txBody>
      </p:sp>
      <p:sp>
        <p:nvSpPr>
          <p:cNvPr id="12" name="yanilgi-kart-2"/>
          <p:cNvSpPr/>
          <p:nvPr/>
        </p:nvSpPr>
        <p:spPr>
          <a:xfrm>
            <a:off x="8066837" y="1874520"/>
            <a:ext cx="3576218" cy="2926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yanilgi-etiket-2"/>
          <p:cNvSpPr txBox="1"/>
          <p:nvPr/>
        </p:nvSpPr>
        <p:spPr>
          <a:xfrm>
            <a:off x="8386877" y="2148840"/>
            <a:ext cx="2936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Yanlış hesap</a:t>
            </a:r>
            <a:endParaRPr lang="en-US" sz="1300" dirty="0"/>
          </a:p>
        </p:txBody>
      </p:sp>
      <p:sp>
        <p:nvSpPr>
          <p:cNvPr id="14" name="yanilgi-sayi-2"/>
          <p:cNvSpPr txBox="1"/>
          <p:nvPr/>
        </p:nvSpPr>
        <p:spPr>
          <a:xfrm>
            <a:off x="8386877" y="2606040"/>
            <a:ext cx="31190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6"/>
                </a:solidFill>
              </a:rPr>
              <a:t>36.000,00 TL</a:t>
            </a:r>
            <a:endParaRPr lang="en-US" sz="3200" dirty="0"/>
          </a:p>
        </p:txBody>
      </p:sp>
      <p:sp>
        <p:nvSpPr>
          <p:cNvPr id="15" name="yanilgi-formul-2"/>
          <p:cNvSpPr txBox="1"/>
          <p:nvPr/>
        </p:nvSpPr>
        <p:spPr>
          <a:xfrm>
            <a:off x="8386877" y="3657600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100.000 × 0,03 × 12</a:t>
            </a:r>
            <a:endParaRPr lang="en-US" sz="1400" dirty="0"/>
          </a:p>
        </p:txBody>
      </p:sp>
      <p:sp>
        <p:nvSpPr>
          <p:cNvPr id="16" name="alt-not"/>
          <p:cNvSpPr txBox="1"/>
          <p:nvPr/>
        </p:nvSpPr>
        <p:spPr>
          <a:xfrm>
            <a:off x="548640" y="5120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Faiz her ay kalan borç üzerinden işler. Borç azaldıkça faiz de azalır.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02 · Finans temeli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Kredinin gerçek maliyeti</a:t>
            </a:r>
            <a:endParaRPr lang="en-US" sz="3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182880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Akdi faiz: sözleşmede yazan oran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KKDF %15 ve BSMV %15: tüketici kredisinde faize eklenen kesinti ve vergi [3][4]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Tahsis ücreti: anaparanın binde beşini geçemez; 100.000 TL'de en çok 500 TL [2]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EYFO: faiz, vergi ve ücretlerin hepsini içeren yıllık maliyet oranı [5]</a:t>
            </a:r>
            <a:endParaRPr lang="en-US" sz="18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8028432" y="2103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50" kern="0" dirty="0">
                <a:solidFill>
                  <a:schemeClr val="accent1"/>
                </a:solidFill>
              </a:rPr>
              <a:t>500 TL ücretle</a:t>
            </a:r>
            <a:endParaRPr lang="en-US" sz="1400" dirty="0"/>
          </a:p>
        </p:txBody>
      </p:sp>
      <p:sp>
        <p:nvSpPr>
          <p:cNvPr id="6" name="Text 2"/>
          <p:cNvSpPr/>
          <p:nvPr>
            <p:ph idx="106" type="body" hasCustomPrompt="1"/>
          </p:nvPr>
        </p:nvSpPr>
        <p:spPr>
          <a:xfrm>
            <a:off x="8028432" y="256032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Ele geçen 99.500 TL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Taksit değişmez: 10.046,21 TL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Yıllık maliyet: %42,58 → %43,98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3"/>
                </a:solidFill>
              </a:rPr>
              <a:t>Vergiler hariç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0"/>
          <p:cNvSpPr/>
          <p:nvPr>
            <p:ph idx="130" type="body" hasCustomPrompt="1"/>
          </p:nvPr>
        </p:nvSpPr>
        <p:spPr>
          <a:xfrm>
            <a:off x="548640" y="10972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03</a:t>
            </a:r>
            <a:endParaRPr lang="en-US" sz="9600" dirty="0"/>
          </a:p>
        </p:txBody>
      </p:sp>
      <p:sp>
        <p:nvSpPr>
          <p:cNvPr id="3" name="Text 30"/>
          <p:cNvSpPr/>
          <p:nvPr>
            <p:ph idx="131" type="title" hasCustomPrompt="1"/>
          </p:nvPr>
        </p:nvSpPr>
        <p:spPr>
          <a:xfrm>
            <a:off x="548640" y="2606040"/>
            <a:ext cx="8595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Kredi ve amortisman</a:t>
            </a:r>
            <a:endParaRPr lang="en-US" sz="4000" dirty="0"/>
          </a:p>
        </p:txBody>
      </p:sp>
      <p:sp>
        <p:nvSpPr>
          <p:cNvPr id="4" name="Text 30"/>
          <p:cNvSpPr/>
          <p:nvPr>
            <p:ph idx="132" type="body" hasCustomPrompt="1"/>
          </p:nvPr>
        </p:nvSpPr>
        <p:spPr>
          <a:xfrm>
            <a:off x="548640" y="41148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PMT, amortisman tablosu, IPMT ve PPMT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03 · Taksit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Taksit: PMT</a:t>
            </a:r>
            <a:endParaRPr lang="en-US" sz="3400" dirty="0"/>
          </a:p>
        </p:txBody>
      </p:sp>
      <p:sp>
        <p:nvSpPr>
          <p:cNvPr id="4" name="Text 3"/>
          <p:cNvSpPr/>
          <p:nvPr>
            <p:ph idx="105" type="body" hasCustomPrompt="1"/>
          </p:nvPr>
        </p:nvSpPr>
        <p:spPr>
          <a:xfrm>
            <a:off x="86868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Excel</a:t>
            </a:r>
            <a:endParaRPr lang="en-US" sz="1800" dirty="0"/>
          </a:p>
        </p:txBody>
      </p:sp>
      <p:sp>
        <p:nvSpPr>
          <p:cNvPr id="5" name="Text 3"/>
          <p:cNvSpPr/>
          <p:nvPr>
            <p:ph idx="106" type="body" hasCustomPrompt="1"/>
          </p:nvPr>
        </p:nvSpPr>
        <p:spPr>
          <a:xfrm>
            <a:off x="868680" y="26060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=-PMT(rate, nper, pv)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=-PMT(B40,B41,B39)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rate: aylık oran (%3)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nper: taksit sayısı (12)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pv: kredi tutarı (100.000)</a:t>
            </a:r>
            <a:endParaRPr lang="en-US" sz="1600" dirty="0"/>
          </a:p>
        </p:txBody>
      </p:sp>
      <p:sp>
        <p:nvSpPr>
          <p:cNvPr id="6" name="Text 3"/>
          <p:cNvSpPr/>
          <p:nvPr>
            <p:ph idx="107" type="body" hasCustomPrompt="1"/>
          </p:nvPr>
        </p:nvSpPr>
        <p:spPr>
          <a:xfrm>
            <a:off x="6595567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Python</a:t>
            </a:r>
            <a:endParaRPr lang="en-US" sz="1800" dirty="0"/>
          </a:p>
        </p:txBody>
      </p:sp>
      <p:sp>
        <p:nvSpPr>
          <p:cNvPr id="7" name="Text 3"/>
          <p:cNvSpPr/>
          <p:nvPr>
            <p:ph idx="108" type="body" hasCustomPrompt="1"/>
          </p:nvPr>
        </p:nvSpPr>
        <p:spPr>
          <a:xfrm>
            <a:off x="6595567" y="26060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numpy_financial as npf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taksit = -npf.pmt(0.03, 12, 100000)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10046.21</a:t>
            </a:r>
            <a:endParaRPr lang="en-US" sz="1600" dirty="0"/>
          </a:p>
        </p:txBody>
      </p:sp>
      <p:sp>
        <p:nvSpPr>
          <p:cNvPr id="8" name="Text 3"/>
          <p:cNvSpPr/>
          <p:nvPr>
            <p:ph idx="109" type="body" hasCustomPrompt="1"/>
          </p:nvPr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PMT taksiti eksi verir: taksit borçludan çıkan paradır. Başa eklenen eksi taksiti artı gösterir.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03 · Amortisman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Amortisman tablosu</a:t>
            </a:r>
            <a:endParaRPr lang="en-US" sz="3400" dirty="0"/>
          </a:p>
        </p:txBody>
      </p:sp>
      <p:graphicFrame>
        <p:nvGraphicFramePr>
          <p:cNvPr id="17" name="amortisman-tabl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5836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554480"/>
                <a:gridCol w="1371600"/>
                <a:gridCol w="137160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Başlangıç borcu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Anapara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Kalan borç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100.000,00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3.000,00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7.046,21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92.953,79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92.953,79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2.788,61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7.257,59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85.696,20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85.696,20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2.570,89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7.475,32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78.220,87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9.753,60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292,61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9.753,60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amortisman-formul-kart"/>
          <p:cNvSpPr/>
          <p:nvPr/>
        </p:nvSpPr>
        <p:spPr>
          <a:xfrm>
            <a:off x="7452360" y="1828800"/>
            <a:ext cx="4187952" cy="3017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amortisman-formul-etiket"/>
          <p:cNvSpPr txBox="1"/>
          <p:nvPr/>
        </p:nvSpPr>
        <p:spPr>
          <a:xfrm>
            <a:off x="7726680" y="2057400"/>
            <a:ext cx="1051560" cy="292608"/>
          </a:xfrm>
          <a:prstGeom prst="roundRect">
            <a:avLst>
              <a:gd name="adj" fmla="val 1875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Excel</a:t>
            </a:r>
            <a:endParaRPr lang="en-US" sz="1100" dirty="0"/>
          </a:p>
        </p:txBody>
      </p:sp>
      <p:sp>
        <p:nvSpPr>
          <p:cNvPr id="7" name="amortisman-formul-kod"/>
          <p:cNvSpPr txBox="1"/>
          <p:nvPr/>
        </p:nvSpPr>
        <p:spPr>
          <a:xfrm>
            <a:off x="7726680" y="2468880"/>
            <a:ext cx="36393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faiz     =B48*$B$40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anapara  =E48-C48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taksit   =$B$43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kalan    =B48-D48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sonraki  =F48</a:t>
            </a:r>
            <a:endParaRPr lang="en-US" sz="1500" dirty="0"/>
          </a:p>
        </p:txBody>
      </p:sp>
      <p:sp>
        <p:nvSpPr>
          <p:cNvPr id="8" name="alt-not"/>
          <p:cNvSpPr txBox="1"/>
          <p:nvPr/>
        </p:nvSpPr>
        <p:spPr>
          <a:xfrm>
            <a:off x="548640" y="5212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100.000 TL · aylık %3 · 12 ay. Taksit her ay 10.046,21 TL. Faiz payı azalır, anapara payı artar.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03 · Sağlama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Sağlama: IPMT ve PPMT</a:t>
            </a:r>
            <a:endParaRPr lang="en-US" sz="3400" dirty="0"/>
          </a:p>
        </p:txBody>
      </p:sp>
      <p:sp>
        <p:nvSpPr>
          <p:cNvPr id="4" name="Text 3"/>
          <p:cNvSpPr/>
          <p:nvPr>
            <p:ph idx="105" type="body" hasCustomPrompt="1"/>
          </p:nvPr>
        </p:nvSpPr>
        <p:spPr>
          <a:xfrm>
            <a:off x="86868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Fonksiyonla sağlama</a:t>
            </a:r>
            <a:endParaRPr lang="en-US" sz="1800" dirty="0"/>
          </a:p>
        </p:txBody>
      </p:sp>
      <p:sp>
        <p:nvSpPr>
          <p:cNvPr id="5" name="Text 3"/>
          <p:cNvSpPr/>
          <p:nvPr>
            <p:ph idx="106" type="body" hasCustomPrompt="1"/>
          </p:nvPr>
        </p:nvSpPr>
        <p:spPr>
          <a:xfrm>
            <a:off x="868680" y="26060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=-IPMT($B$40,A48,$B$41,$B$39)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3"/>
                </a:solidFill>
              </a:rPr>
              <a:t>k. ayın faizi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=-PPMT($B$40,A48,$B$41,$B$39)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3"/>
                </a:solidFill>
              </a:rPr>
              <a:t>k. ayın anapara payı</a:t>
            </a:r>
            <a:endParaRPr lang="en-US" sz="1600" dirty="0"/>
          </a:p>
        </p:txBody>
      </p:sp>
      <p:sp>
        <p:nvSpPr>
          <p:cNvPr id="6" name="Text 3"/>
          <p:cNvSpPr/>
          <p:nvPr>
            <p:ph idx="107" type="body" hasCustomPrompt="1"/>
          </p:nvPr>
        </p:nvSpPr>
        <p:spPr>
          <a:xfrm>
            <a:off x="6595567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Kontrol listesi</a:t>
            </a:r>
            <a:endParaRPr lang="en-US" sz="1800" dirty="0"/>
          </a:p>
        </p:txBody>
      </p:sp>
      <p:sp>
        <p:nvSpPr>
          <p:cNvPr id="7" name="Text 3"/>
          <p:cNvSpPr/>
          <p:nvPr>
            <p:ph idx="108" type="body" hasCustomPrompt="1"/>
          </p:nvPr>
        </p:nvSpPr>
        <p:spPr>
          <a:xfrm>
            <a:off x="6595567" y="26060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Son ayın kalan borcu 0 mı?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Faiz sütunu - IPMT = 0 mı?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Toplam anapara = kredi tutarı mı?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Formülde elle yazılmış sayı var mı?</a:t>
            </a:r>
            <a:endParaRPr lang="en-US" sz="1600" dirty="0"/>
          </a:p>
        </p:txBody>
      </p:sp>
      <p:sp>
        <p:nvSpPr>
          <p:cNvPr id="8" name="Text 3"/>
          <p:cNvSpPr/>
          <p:nvPr>
            <p:ph idx="109" type="body" hasCustomPrompt="1"/>
          </p:nvPr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Her sonuç ikinci bir yoldan sağlanır: tablo ile fonksiyon aynı sayıyı vermelidir.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03 · FV ve PV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Ara ödemeli FV ve tersine hesap PV</a:t>
            </a:r>
            <a:endParaRPr lang="en-US" sz="3400" dirty="0"/>
          </a:p>
        </p:txBody>
      </p:sp>
      <p:sp>
        <p:nvSpPr>
          <p:cNvPr id="4" name="Text 3"/>
          <p:cNvSpPr/>
          <p:nvPr>
            <p:ph idx="105" type="body" hasCustomPrompt="1"/>
          </p:nvPr>
        </p:nvSpPr>
        <p:spPr>
          <a:xfrm>
            <a:off x="86868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Birikim: FV</a:t>
            </a:r>
            <a:endParaRPr lang="en-US" sz="1800" dirty="0"/>
          </a:p>
        </p:txBody>
      </p:sp>
      <p:sp>
        <p:nvSpPr>
          <p:cNvPr id="5" name="Text 3"/>
          <p:cNvSpPr/>
          <p:nvPr>
            <p:ph idx="106" type="body" hasCustomPrompt="1"/>
          </p:nvPr>
        </p:nvSpPr>
        <p:spPr>
          <a:xfrm>
            <a:off x="868680" y="26060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3"/>
                </a:solidFill>
              </a:rPr>
              <a:t>Her ay 1.000 TL, aylık %3, 12 ay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=FV(B5,B6,-B7)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14.192,03 TL</a:t>
            </a:r>
            <a:endParaRPr lang="en-US" sz="1600" dirty="0"/>
          </a:p>
        </p:txBody>
      </p:sp>
      <p:sp>
        <p:nvSpPr>
          <p:cNvPr id="6" name="Text 3"/>
          <p:cNvSpPr/>
          <p:nvPr>
            <p:ph idx="107" type="body" hasCustomPrompt="1"/>
          </p:nvPr>
        </p:nvSpPr>
        <p:spPr>
          <a:xfrm>
            <a:off x="6595567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Tersine hesap: PV</a:t>
            </a:r>
            <a:endParaRPr lang="en-US" sz="1800" dirty="0"/>
          </a:p>
        </p:txBody>
      </p:sp>
      <p:sp>
        <p:nvSpPr>
          <p:cNvPr id="7" name="Text 3"/>
          <p:cNvSpPr/>
          <p:nvPr>
            <p:ph idx="108" type="body" hasCustomPrompt="1"/>
          </p:nvPr>
        </p:nvSpPr>
        <p:spPr>
          <a:xfrm>
            <a:off x="6595567" y="26060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3"/>
                </a:solidFill>
              </a:rPr>
              <a:t>3 yıl sonra 27.440 TL, yıllık %40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=PV(B32,B33,0,B31)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-10.000,00 TL</a:t>
            </a:r>
            <a:endParaRPr lang="en-US" sz="1600" dirty="0"/>
          </a:p>
        </p:txBody>
      </p:sp>
      <p:sp>
        <p:nvSpPr>
          <p:cNvPr id="8" name="Text 3"/>
          <p:cNvSpPr/>
          <p:nvPr>
            <p:ph idx="109" type="body" hasCustomPrompt="1"/>
          </p:nvPr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PV'nin üçüncü argümanı (pmt) ara ödeme yoksa 0 yazılır; atlanırsa gelecek değer ödeme yerine okunur.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0"/>
          <p:cNvSpPr/>
          <p:nvPr>
            <p:ph idx="130" type="body" hasCustomPrompt="1"/>
          </p:nvPr>
        </p:nvSpPr>
        <p:spPr>
          <a:xfrm>
            <a:off x="548640" y="10972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04</a:t>
            </a:r>
            <a:endParaRPr lang="en-US" sz="9600" dirty="0"/>
          </a:p>
        </p:txBody>
      </p:sp>
      <p:sp>
        <p:nvSpPr>
          <p:cNvPr id="3" name="Text 30"/>
          <p:cNvSpPr/>
          <p:nvPr>
            <p:ph idx="131" type="title" hasCustomPrompt="1"/>
          </p:nvPr>
        </p:nvSpPr>
        <p:spPr>
          <a:xfrm>
            <a:off x="548640" y="2606040"/>
            <a:ext cx="8595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NPV, IRR ve kredinin maliyeti</a:t>
            </a:r>
            <a:endParaRPr lang="en-US" sz="4000" dirty="0"/>
          </a:p>
        </p:txBody>
      </p:sp>
      <p:sp>
        <p:nvSpPr>
          <p:cNvPr id="4" name="Text 30"/>
          <p:cNvSpPr/>
          <p:nvPr>
            <p:ph idx="132" type="body" hasCustomPrompt="1"/>
          </p:nvPr>
        </p:nvSpPr>
        <p:spPr>
          <a:xfrm>
            <a:off x="548640" y="41148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TCMB'nin %63'ü nasıl hesaplanır?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04 · NPV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NPV ve zamanlama tuzağı</a:t>
            </a:r>
            <a:endParaRPr lang="en-US" sz="3400" dirty="0"/>
          </a:p>
        </p:txBody>
      </p:sp>
      <p:graphicFrame>
        <p:nvGraphicFramePr>
          <p:cNvPr id="21" name="proje-tabl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400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09728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Dönem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Nakit akışı (TL)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npv-dogru-kart"/>
          <p:cNvSpPr/>
          <p:nvPr/>
        </p:nvSpPr>
        <p:spPr>
          <a:xfrm>
            <a:off x="548640" y="2926080"/>
            <a:ext cx="5394960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npv-dogru-etiket"/>
          <p:cNvSpPr txBox="1"/>
          <p:nvPr/>
        </p:nvSpPr>
        <p:spPr>
          <a:xfrm>
            <a:off x="822960" y="3154680"/>
            <a:ext cx="1051560" cy="292608"/>
          </a:xfrm>
          <a:prstGeom prst="roundRect">
            <a:avLst>
              <a:gd name="adj" fmla="val 1875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Doğru</a:t>
            </a:r>
            <a:endParaRPr lang="en-US" sz="1100" dirty="0"/>
          </a:p>
        </p:txBody>
      </p:sp>
      <p:sp>
        <p:nvSpPr>
          <p:cNvPr id="7" name="npv-dogru-kod"/>
          <p:cNvSpPr txBox="1"/>
          <p:nvPr/>
        </p:nvSpPr>
        <p:spPr>
          <a:xfrm>
            <a:off x="822960" y="3566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=NPV(B69,B73:B75)+B72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1.307,29 TL</a:t>
            </a:r>
            <a:endParaRPr lang="en-US" sz="1500" dirty="0"/>
          </a:p>
        </p:txBody>
      </p:sp>
      <p:sp>
        <p:nvSpPr>
          <p:cNvPr id="8" name="npv-yanlis-kart"/>
          <p:cNvSpPr/>
          <p:nvPr/>
        </p:nvSpPr>
        <p:spPr>
          <a:xfrm>
            <a:off x="6245352" y="2926080"/>
            <a:ext cx="5394960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npv-yanlis-etiket"/>
          <p:cNvSpPr txBox="1"/>
          <p:nvPr/>
        </p:nvSpPr>
        <p:spPr>
          <a:xfrm>
            <a:off x="6519672" y="3154680"/>
            <a:ext cx="1051560" cy="292608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Tuzak</a:t>
            </a:r>
            <a:endParaRPr lang="en-US" sz="1100" dirty="0"/>
          </a:p>
        </p:txBody>
      </p:sp>
      <p:sp>
        <p:nvSpPr>
          <p:cNvPr id="10" name="npv-yanlis-kod"/>
          <p:cNvSpPr txBox="1"/>
          <p:nvPr/>
        </p:nvSpPr>
        <p:spPr>
          <a:xfrm>
            <a:off x="6519672" y="3566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=NPV(B69,B72:B75)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1.188,44 TL</a:t>
            </a:r>
            <a:endParaRPr lang="en-US" sz="1500" dirty="0"/>
          </a:p>
        </p:txBody>
      </p:sp>
      <p:sp>
        <p:nvSpPr>
          <p:cNvPr id="11" name="npv-kural"/>
          <p:cNvSpPr txBox="1"/>
          <p:nvPr/>
        </p:nvSpPr>
        <p:spPr>
          <a:xfrm>
            <a:off x="548640" y="461772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NPV ilk değeri 1. dönemin sonuna koyar. Bugünkü yatırım fonksiyonun dışında eklenir.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Karar kuralı: NPV &gt; 0 ise proje kabul edilir. İstenen getiri: yıllık %10.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04 · IRR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IRR: NPV'yi sıfır yapan oran</a:t>
            </a:r>
            <a:endParaRPr lang="en-US" sz="3400" dirty="0"/>
          </a:p>
        </p:txBody>
      </p:sp>
      <p:sp>
        <p:nvSpPr>
          <p:cNvPr id="4" name="Text 3"/>
          <p:cNvSpPr/>
          <p:nvPr>
            <p:ph idx="105" type="body" hasCustomPrompt="1"/>
          </p:nvPr>
        </p:nvSpPr>
        <p:spPr>
          <a:xfrm>
            <a:off x="86868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Proje</a:t>
            </a:r>
            <a:endParaRPr lang="en-US" sz="1800" dirty="0"/>
          </a:p>
        </p:txBody>
      </p:sp>
      <p:sp>
        <p:nvSpPr>
          <p:cNvPr id="5" name="Text 3"/>
          <p:cNvSpPr/>
          <p:nvPr>
            <p:ph idx="106" type="body" hasCustomPrompt="1"/>
          </p:nvPr>
        </p:nvSpPr>
        <p:spPr>
          <a:xfrm>
            <a:off x="868680" y="26060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=IRR(B72:B75)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→ %16,34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3"/>
                </a:solidFill>
              </a:rPr>
              <a:t>IRR &gt; istenen getiri (%10) ise kabul. NPV ile aynı kararı verir.</a:t>
            </a:r>
            <a:endParaRPr lang="en-US" sz="1600" dirty="0"/>
          </a:p>
        </p:txBody>
      </p:sp>
      <p:sp>
        <p:nvSpPr>
          <p:cNvPr id="6" name="Text 3"/>
          <p:cNvSpPr/>
          <p:nvPr>
            <p:ph idx="107" type="body" hasCustomPrompt="1"/>
          </p:nvPr>
        </p:nvSpPr>
        <p:spPr>
          <a:xfrm>
            <a:off x="6595567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Kredinin maliyeti</a:t>
            </a:r>
            <a:endParaRPr lang="en-US" sz="1800" dirty="0"/>
          </a:p>
        </p:txBody>
      </p:sp>
      <p:sp>
        <p:nvSpPr>
          <p:cNvPr id="7" name="Text 3"/>
          <p:cNvSpPr/>
          <p:nvPr>
            <p:ph idx="108" type="body" hasCustomPrompt="1"/>
          </p:nvPr>
        </p:nvSpPr>
        <p:spPr>
          <a:xfrm>
            <a:off x="6595567" y="26060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3"/>
                </a:solidFill>
              </a:rPr>
              <a:t>Ay 0: +99.500 · ay 1-12: -10.046,21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=IRR(B80:B92)  → aylık %3,08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yıllık (1+%3,08)^12 - 1 = %43,98</a:t>
            </a:r>
            <a:endParaRPr lang="en-US" sz="1600" dirty="0"/>
          </a:p>
        </p:txBody>
      </p:sp>
      <p:sp>
        <p:nvSpPr>
          <p:cNvPr id="8" name="Text 3"/>
          <p:cNvSpPr/>
          <p:nvPr>
            <p:ph idx="109" type="body" hasCustomPrompt="1"/>
          </p:nvPr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Kredide IRR borçlunun ödediği gerçek orandır: ücret, ele geçen tutarı azaltır ve oranı yükseltir.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04 · TCMB'nin yöntemi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TCMB'nin kredi faizi nasıl hesaplanır?</a:t>
            </a:r>
            <a:endParaRPr lang="en-US" sz="3400" dirty="0"/>
          </a:p>
        </p:txBody>
      </p:sp>
      <p:sp>
        <p:nvSpPr>
          <p:cNvPr id="4" name="tcmb-tanim"/>
          <p:cNvSpPr txBox="1"/>
          <p:nvPr/>
        </p:nvSpPr>
        <p:spPr>
          <a:xfrm>
            <a:off x="548640" y="18288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Her kredinin efektif yıllık faiz oranı: bütün ödemelerin bugünkü değerini kredi tutarına eşitleyen yıllık oran [6].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</a:rPr>
              <a:t>Metaverideki örnek: 10.000 TL kredi, 24 ay boyunca ayda 480 TL.</a:t>
            </a:r>
            <a:endParaRPr lang="en-US" sz="1700" dirty="0"/>
          </a:p>
        </p:txBody>
      </p:sp>
      <p:sp>
        <p:nvSpPr>
          <p:cNvPr id="5" name="tcmb-ay-kart"/>
          <p:cNvSpPr/>
          <p:nvPr/>
        </p:nvSpPr>
        <p:spPr>
          <a:xfrm>
            <a:off x="548640" y="2926080"/>
            <a:ext cx="6035040" cy="2148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cmb-ay-etiket"/>
          <p:cNvSpPr txBox="1"/>
          <p:nvPr/>
        </p:nvSpPr>
        <p:spPr>
          <a:xfrm>
            <a:off x="822960" y="3154680"/>
            <a:ext cx="1051560" cy="292608"/>
          </a:xfrm>
          <a:prstGeom prst="roundRect">
            <a:avLst>
              <a:gd name="adj" fmla="val 1875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Excel</a:t>
            </a:r>
            <a:endParaRPr lang="en-US" sz="1100" dirty="0"/>
          </a:p>
        </p:txBody>
      </p:sp>
      <p:sp>
        <p:nvSpPr>
          <p:cNvPr id="7" name="tcmb-ay-kod"/>
          <p:cNvSpPr txBox="1"/>
          <p:nvPr/>
        </p:nvSpPr>
        <p:spPr>
          <a:xfrm>
            <a:off x="822960" y="3566160"/>
            <a:ext cx="5486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=IRR(C14:C38)        → aylık %1,1644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=(1+B40)^12-1        → %14,90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=XIRR(C14:C38,B14:B38) → %14,90</a:t>
            </a:r>
            <a:endParaRPr lang="en-US" sz="1500" dirty="0"/>
          </a:p>
        </p:txBody>
      </p:sp>
      <p:sp>
        <p:nvSpPr>
          <p:cNvPr id="8" name="tcmb-63-kart"/>
          <p:cNvSpPr/>
          <p:nvPr/>
        </p:nvSpPr>
        <p:spPr>
          <a:xfrm>
            <a:off x="6885432" y="2926080"/>
            <a:ext cx="4754880" cy="2148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tcmb-63-etiket"/>
          <p:cNvSpPr txBox="1"/>
          <p:nvPr/>
        </p:nvSpPr>
        <p:spPr>
          <a:xfrm>
            <a:off x="7159752" y="3154680"/>
            <a:ext cx="1051560" cy="292608"/>
          </a:xfrm>
          <a:prstGeom prst="roundRect">
            <a:avLst>
              <a:gd name="adj" fmla="val 1875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%63</a:t>
            </a:r>
            <a:endParaRPr lang="en-US" sz="1100" dirty="0"/>
          </a:p>
        </p:txBody>
      </p:sp>
      <p:sp>
        <p:nvSpPr>
          <p:cNvPr id="10" name="tcmb-63-kod"/>
          <p:cNvSpPr txBox="1"/>
          <p:nvPr/>
        </p:nvSpPr>
        <p:spPr>
          <a:xfrm>
            <a:off x="7159752" y="3566160"/>
            <a:ext cx="4206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=(1+0.63)^(1/12)-1  → %4,16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=0.63/12            → %5,25 ✗</a:t>
            </a:r>
            <a:endParaRPr lang="en-US" sz="1500" dirty="0"/>
          </a:p>
        </p:txBody>
      </p:sp>
      <p:sp>
        <p:nvSpPr>
          <p:cNvPr id="11" name="alt-not"/>
          <p:cNvSpPr txBox="1"/>
          <p:nvPr/>
        </p:nvSpPr>
        <p:spPr>
          <a:xfrm>
            <a:off x="548640" y="5349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Karar sayfası, K1. XIRR gün sayısı / 365 ile iskonto eder; metaverideki formülün aynısıdır.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0"/>
          <p:cNvSpPr/>
          <p:nvPr>
            <p:ph idx="130" type="body" hasCustomPrompt="1"/>
          </p:nvPr>
        </p:nvSpPr>
        <p:spPr>
          <a:xfrm>
            <a:off x="548640" y="10972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05</a:t>
            </a:r>
            <a:endParaRPr lang="en-US" sz="9600" dirty="0"/>
          </a:p>
        </p:txBody>
      </p:sp>
      <p:sp>
        <p:nvSpPr>
          <p:cNvPr id="3" name="Text 30"/>
          <p:cNvSpPr/>
          <p:nvPr>
            <p:ph idx="131" type="title" hasCustomPrompt="1"/>
          </p:nvPr>
        </p:nvSpPr>
        <p:spPr>
          <a:xfrm>
            <a:off x="548640" y="2606040"/>
            <a:ext cx="8595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Karar araçları</a:t>
            </a:r>
            <a:endParaRPr lang="en-US" sz="4000" dirty="0"/>
          </a:p>
        </p:txBody>
      </p:sp>
      <p:sp>
        <p:nvSpPr>
          <p:cNvPr id="4" name="Text 30"/>
          <p:cNvSpPr/>
          <p:nvPr>
            <p:ph idx="132" type="body" hasCustomPrompt="1"/>
          </p:nvPr>
        </p:nvSpPr>
        <p:spPr>
          <a:xfrm>
            <a:off x="548640" y="41148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Goal Seek, Data Table, IF, AND, OR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05 · İlan kredisi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İlan kredisi: 100.000 TL, aylık %4, 12 ay</a:t>
            </a:r>
            <a:endParaRPr lang="en-US" sz="3400" dirty="0"/>
          </a:p>
        </p:txBody>
      </p:sp>
      <p:sp>
        <p:nvSpPr>
          <p:cNvPr id="4" name="ilan-kart-0"/>
          <p:cNvSpPr/>
          <p:nvPr/>
        </p:nvSpPr>
        <p:spPr>
          <a:xfrm>
            <a:off x="548640" y="1874520"/>
            <a:ext cx="2624328" cy="2743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ilan-etiket-0"/>
          <p:cNvSpPr txBox="1"/>
          <p:nvPr/>
        </p:nvSpPr>
        <p:spPr>
          <a:xfrm>
            <a:off x="822960" y="210312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Aylık taksit</a:t>
            </a:r>
            <a:endParaRPr lang="en-US" sz="1300" dirty="0"/>
          </a:p>
        </p:txBody>
      </p:sp>
      <p:sp>
        <p:nvSpPr>
          <p:cNvPr id="6" name="ilan-sayi-0"/>
          <p:cNvSpPr txBox="1"/>
          <p:nvPr/>
        </p:nvSpPr>
        <p:spPr>
          <a:xfrm>
            <a:off x="822960" y="256032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10.655,22 TL</a:t>
            </a:r>
            <a:endParaRPr lang="en-US" sz="3000" dirty="0"/>
          </a:p>
        </p:txBody>
      </p:sp>
      <p:sp>
        <p:nvSpPr>
          <p:cNvPr id="7" name="ilan-formul-0"/>
          <p:cNvSpPr txBox="1"/>
          <p:nvPr/>
        </p:nvSpPr>
        <p:spPr>
          <a:xfrm>
            <a:off x="822960" y="3611880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=-PMT(B49,B50,B48)</a:t>
            </a:r>
            <a:endParaRPr lang="en-US" sz="1300" dirty="0"/>
          </a:p>
        </p:txBody>
      </p:sp>
      <p:sp>
        <p:nvSpPr>
          <p:cNvPr id="8" name="ilan-kart-1"/>
          <p:cNvSpPr/>
          <p:nvPr/>
        </p:nvSpPr>
        <p:spPr>
          <a:xfrm>
            <a:off x="3371393" y="1874520"/>
            <a:ext cx="2624328" cy="2743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ilan-etiket-1"/>
          <p:cNvSpPr txBox="1"/>
          <p:nvPr/>
        </p:nvSpPr>
        <p:spPr>
          <a:xfrm>
            <a:off x="3645713" y="210312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Toplam faiz</a:t>
            </a:r>
            <a:endParaRPr lang="en-US" sz="1300" dirty="0"/>
          </a:p>
        </p:txBody>
      </p:sp>
      <p:sp>
        <p:nvSpPr>
          <p:cNvPr id="10" name="ilan-sayi-1"/>
          <p:cNvSpPr txBox="1"/>
          <p:nvPr/>
        </p:nvSpPr>
        <p:spPr>
          <a:xfrm>
            <a:off x="3645713" y="256032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27.862,61 TL</a:t>
            </a:r>
            <a:endParaRPr lang="en-US" sz="3000" dirty="0"/>
          </a:p>
        </p:txBody>
      </p:sp>
      <p:sp>
        <p:nvSpPr>
          <p:cNvPr id="11" name="ilan-formul-1"/>
          <p:cNvSpPr txBox="1"/>
          <p:nvPr/>
        </p:nvSpPr>
        <p:spPr>
          <a:xfrm>
            <a:off x="3645713" y="3611880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=B56*B50-B48</a:t>
            </a:r>
            <a:endParaRPr lang="en-US" sz="1300" dirty="0"/>
          </a:p>
        </p:txBody>
      </p:sp>
      <p:sp>
        <p:nvSpPr>
          <p:cNvPr id="12" name="ilan-kart-2"/>
          <p:cNvSpPr/>
          <p:nvPr/>
        </p:nvSpPr>
        <p:spPr>
          <a:xfrm>
            <a:off x="6194146" y="1874520"/>
            <a:ext cx="2624328" cy="2743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ilan-etiket-2"/>
          <p:cNvSpPr txBox="1"/>
          <p:nvPr/>
        </p:nvSpPr>
        <p:spPr>
          <a:xfrm>
            <a:off x="6468466" y="210312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Yıllık bileşik</a:t>
            </a:r>
            <a:endParaRPr lang="en-US" sz="1300" dirty="0"/>
          </a:p>
        </p:txBody>
      </p:sp>
      <p:sp>
        <p:nvSpPr>
          <p:cNvPr id="14" name="ilan-sayi-2"/>
          <p:cNvSpPr txBox="1"/>
          <p:nvPr/>
        </p:nvSpPr>
        <p:spPr>
          <a:xfrm>
            <a:off x="6468466" y="256032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%60,10</a:t>
            </a:r>
            <a:endParaRPr lang="en-US" sz="3000" dirty="0"/>
          </a:p>
        </p:txBody>
      </p:sp>
      <p:sp>
        <p:nvSpPr>
          <p:cNvPr id="15" name="ilan-formul-2"/>
          <p:cNvSpPr txBox="1"/>
          <p:nvPr/>
        </p:nvSpPr>
        <p:spPr>
          <a:xfrm>
            <a:off x="6468466" y="3611880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=(1+B49)^B10-1</a:t>
            </a:r>
            <a:endParaRPr lang="en-US" sz="1300" dirty="0"/>
          </a:p>
        </p:txBody>
      </p:sp>
      <p:sp>
        <p:nvSpPr>
          <p:cNvPr id="16" name="ilan-kart-3"/>
          <p:cNvSpPr/>
          <p:nvPr/>
        </p:nvSpPr>
        <p:spPr>
          <a:xfrm>
            <a:off x="9016898" y="1874520"/>
            <a:ext cx="2624328" cy="2743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ilan-etiket-3"/>
          <p:cNvSpPr txBox="1"/>
          <p:nvPr/>
        </p:nvSpPr>
        <p:spPr>
          <a:xfrm>
            <a:off x="9291218" y="210312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Taksit / gelir (24.000 TL)</a:t>
            </a:r>
            <a:endParaRPr lang="en-US" sz="1300" dirty="0"/>
          </a:p>
        </p:txBody>
      </p:sp>
      <p:sp>
        <p:nvSpPr>
          <p:cNvPr id="18" name="ilan-sayi-3"/>
          <p:cNvSpPr txBox="1"/>
          <p:nvPr/>
        </p:nvSpPr>
        <p:spPr>
          <a:xfrm>
            <a:off x="9291218" y="256032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%44,40</a:t>
            </a:r>
            <a:endParaRPr lang="en-US" sz="3000" dirty="0"/>
          </a:p>
        </p:txBody>
      </p:sp>
      <p:sp>
        <p:nvSpPr>
          <p:cNvPr id="19" name="ilan-formul-3"/>
          <p:cNvSpPr txBox="1"/>
          <p:nvPr/>
        </p:nvSpPr>
        <p:spPr>
          <a:xfrm>
            <a:off x="9291218" y="3611880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=B56/B51</a:t>
            </a:r>
            <a:endParaRPr lang="en-US" sz="1300" dirty="0"/>
          </a:p>
        </p:txBody>
      </p:sp>
      <p:sp>
        <p:nvSpPr>
          <p:cNvPr id="20" name="alt-not"/>
          <p:cNvSpPr txBox="1"/>
          <p:nvPr/>
        </p:nvSpPr>
        <p:spPr>
          <a:xfrm>
            <a:off x="548640" y="49377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Varsayımsal ilan ve gelir. Bütçe eşiği %40 öğretim amaçlıdır; bir düzenleme değildir.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05 · Goal Seek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Goal Seek: sonucu ver, girdiyi bul</a:t>
            </a:r>
            <a:endParaRPr lang="en-US" sz="3400" dirty="0"/>
          </a:p>
        </p:txBody>
      </p:sp>
      <p:sp>
        <p:nvSpPr>
          <p:cNvPr id="4" name="Text 3"/>
          <p:cNvSpPr/>
          <p:nvPr>
            <p:ph idx="105" type="body" hasCustomPrompt="1"/>
          </p:nvPr>
        </p:nvSpPr>
        <p:spPr>
          <a:xfrm>
            <a:off x="86868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Soru ve kurulum</a:t>
            </a:r>
            <a:endParaRPr lang="en-US" sz="1800" dirty="0"/>
          </a:p>
        </p:txBody>
      </p:sp>
      <p:sp>
        <p:nvSpPr>
          <p:cNvPr id="5" name="Text 3"/>
          <p:cNvSpPr/>
          <p:nvPr>
            <p:ph idx="106" type="body" hasCustomPrompt="1"/>
          </p:nvPr>
        </p:nvSpPr>
        <p:spPr>
          <a:xfrm>
            <a:off x="868680" y="26060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Taksit en çok 7.500 TL ise en çok ne kadar kredi alınır?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Data &gt; What-If Analysis &gt; Goal Seek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cell: B62 (taksit)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value: 7500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 changing cell: B61 (tutar)</a:t>
            </a:r>
            <a:endParaRPr lang="en-US" sz="1600" dirty="0"/>
          </a:p>
        </p:txBody>
      </p:sp>
      <p:sp>
        <p:nvSpPr>
          <p:cNvPr id="6" name="Text 3"/>
          <p:cNvSpPr/>
          <p:nvPr>
            <p:ph idx="107" type="body" hasCustomPrompt="1"/>
          </p:nvPr>
        </p:nvSpPr>
        <p:spPr>
          <a:xfrm>
            <a:off x="6595567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Sonuç ve sağlama</a:t>
            </a:r>
            <a:endParaRPr lang="en-US" sz="1800" dirty="0"/>
          </a:p>
        </p:txBody>
      </p:sp>
      <p:sp>
        <p:nvSpPr>
          <p:cNvPr id="7" name="Text 3"/>
          <p:cNvSpPr/>
          <p:nvPr>
            <p:ph idx="108" type="body" hasCustomPrompt="1"/>
          </p:nvPr>
        </p:nvSpPr>
        <p:spPr>
          <a:xfrm>
            <a:off x="6595567" y="26060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B61 → 70.388,05 TL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Sağlama: =PV(B49,B50,-B53)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70.388,05 TL</a:t>
            </a:r>
            <a:endParaRPr lang="en-US" sz="1600" dirty="0"/>
          </a:p>
        </p:txBody>
      </p:sp>
      <p:sp>
        <p:nvSpPr>
          <p:cNvPr id="8" name="Text 3"/>
          <p:cNvSpPr/>
          <p:nvPr>
            <p:ph idx="109" type="body" hasCustomPrompt="1"/>
          </p:nvPr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Goal Seek tek bir girdiyi değiştirir. Birden çok girdi ve kısıt için Solver kullanılır (12. oturum).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05 · Data Table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Tek değişkenli Data Table: oran → taksit</a:t>
            </a:r>
            <a:endParaRPr lang="en-US" sz="3400" dirty="0"/>
          </a:p>
        </p:txBody>
      </p:sp>
      <p:graphicFrame>
        <p:nvGraphicFramePr>
          <p:cNvPr id="27" name="vt1-tabl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4572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4688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Aylık oran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Taksit (TL)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%3,50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10.348,39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%3,75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10.501,23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%4,00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10.655,22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%4,25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10.810,35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%4,50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10.966,62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t1-adim-kart"/>
          <p:cNvSpPr/>
          <p:nvPr/>
        </p:nvSpPr>
        <p:spPr>
          <a:xfrm>
            <a:off x="5486400" y="1828800"/>
            <a:ext cx="6153912" cy="3108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vt1-adim-etiket"/>
          <p:cNvSpPr txBox="1"/>
          <p:nvPr/>
        </p:nvSpPr>
        <p:spPr>
          <a:xfrm>
            <a:off x="5760720" y="2057400"/>
            <a:ext cx="1051560" cy="292608"/>
          </a:xfrm>
          <a:prstGeom prst="roundRect">
            <a:avLst>
              <a:gd name="adj" fmla="val 1875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Excel</a:t>
            </a:r>
            <a:endParaRPr lang="en-US" sz="1100" dirty="0"/>
          </a:p>
        </p:txBody>
      </p:sp>
      <p:sp>
        <p:nvSpPr>
          <p:cNvPr id="7" name="vt1-adim-kod"/>
          <p:cNvSpPr txBox="1"/>
          <p:nvPr/>
        </p:nvSpPr>
        <p:spPr>
          <a:xfrm>
            <a:off x="5760720" y="2468880"/>
            <a:ext cx="56052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B76  =B56  (modelin taksiti)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A77:A81  oranlar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A76:B81 seçilir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&gt; What-If Analysis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 Data Table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 input cell: B49</a:t>
            </a:r>
            <a:endParaRPr lang="en-US" sz="1500" dirty="0"/>
          </a:p>
        </p:txBody>
      </p:sp>
      <p:sp>
        <p:nvSpPr>
          <p:cNvPr id="8" name="alt-not"/>
          <p:cNvSpPr txBox="1"/>
          <p:nvPr/>
        </p:nvSpPr>
        <p:spPr>
          <a:xfrm>
            <a:off x="548640" y="5212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100.000 TL · 12 ay. Duyarlılık: tek bir girdi değişir, çıktı izlenir.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05 · Data Table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İki değişkenli Data Table: oran × vade</a:t>
            </a:r>
            <a:endParaRPr lang="en-US" sz="3400" dirty="0"/>
          </a:p>
        </p:txBody>
      </p:sp>
      <p:graphicFrame>
        <p:nvGraphicFramePr>
          <p:cNvPr id="28" name="vt2-tabl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73152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143000"/>
                <a:gridCol w="1143000"/>
                <a:gridCol w="1143000"/>
                <a:gridCol w="1143000"/>
                <a:gridCol w="11430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Oran \ Vade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%3,50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18.766,82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10.348,39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7.581,68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6.227,28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4.928,42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%4,00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19.076,19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10.655,22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7.899,33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6.558,68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5.288,69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%4,50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19.387,84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10.966,62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8.223,69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6.898,70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5.660,58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t2-adim-kart"/>
          <p:cNvSpPr/>
          <p:nvPr/>
        </p:nvSpPr>
        <p:spPr>
          <a:xfrm>
            <a:off x="8183880" y="1828800"/>
            <a:ext cx="3456432" cy="3291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vt2-adim-etiket"/>
          <p:cNvSpPr txBox="1"/>
          <p:nvPr/>
        </p:nvSpPr>
        <p:spPr>
          <a:xfrm>
            <a:off x="8458200" y="2057400"/>
            <a:ext cx="1051560" cy="292608"/>
          </a:xfrm>
          <a:prstGeom prst="roundRect">
            <a:avLst>
              <a:gd name="adj" fmla="val 1875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Excel</a:t>
            </a:r>
            <a:endParaRPr lang="en-US" sz="1100" dirty="0"/>
          </a:p>
        </p:txBody>
      </p:sp>
      <p:sp>
        <p:nvSpPr>
          <p:cNvPr id="7" name="vt2-adim-kod"/>
          <p:cNvSpPr txBox="1"/>
          <p:nvPr/>
        </p:nvSpPr>
        <p:spPr>
          <a:xfrm>
            <a:off x="8458200" y="2468880"/>
            <a:ext cx="29077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A87 =B56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input: B50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 input: B49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Sağlama: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=-PMT($A95,B$94,$B$48)</a:t>
            </a:r>
            <a:endParaRPr lang="en-US" sz="1500" dirty="0"/>
          </a:p>
        </p:txBody>
      </p:sp>
      <p:sp>
        <p:nvSpPr>
          <p:cNvPr id="8" name="alt-not"/>
          <p:cNvSpPr txBox="1"/>
          <p:nvPr/>
        </p:nvSpPr>
        <p:spPr>
          <a:xfrm>
            <a:off x="548640" y="53949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Karma başvuru: $A95 sütunu sabitler, B$94 satırı sabitler. Tek formül bütün ızgaraya sürüklenir.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05 · Koşullu mantık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IF, AND, OR: bütçe kuralı</a:t>
            </a:r>
            <a:endParaRPr lang="en-US" sz="3400" dirty="0"/>
          </a:p>
        </p:txBody>
      </p:sp>
      <p:sp>
        <p:nvSpPr>
          <p:cNvPr id="4" name="if-kart"/>
          <p:cNvSpPr/>
          <p:nvPr/>
        </p:nvSpPr>
        <p:spPr>
          <a:xfrm>
            <a:off x="548640" y="1828800"/>
            <a:ext cx="11094415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if-etiket"/>
          <p:cNvSpPr txBox="1"/>
          <p:nvPr/>
        </p:nvSpPr>
        <p:spPr>
          <a:xfrm>
            <a:off x="822960" y="2057400"/>
            <a:ext cx="1051560" cy="292608"/>
          </a:xfrm>
          <a:prstGeom prst="roundRect">
            <a:avLst>
              <a:gd name="adj" fmla="val 1875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IF</a:t>
            </a:r>
            <a:endParaRPr lang="en-US" sz="1100" dirty="0"/>
          </a:p>
        </p:txBody>
      </p:sp>
      <p:sp>
        <p:nvSpPr>
          <p:cNvPr id="6" name="if-kod"/>
          <p:cNvSpPr txBox="1"/>
          <p:nvPr/>
        </p:nvSpPr>
        <p:spPr>
          <a:xfrm>
            <a:off x="822960" y="246888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=IF(B59&lt;=B52,"Uygun","Riskli")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Riskli</a:t>
            </a:r>
            <a:endParaRPr lang="en-US" sz="1500" dirty="0"/>
          </a:p>
        </p:txBody>
      </p:sp>
      <p:sp>
        <p:nvSpPr>
          <p:cNvPr id="7" name="and-kart"/>
          <p:cNvSpPr/>
          <p:nvPr/>
        </p:nvSpPr>
        <p:spPr>
          <a:xfrm>
            <a:off x="548640" y="3154680"/>
            <a:ext cx="11094415" cy="1508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and-etiket"/>
          <p:cNvSpPr txBox="1"/>
          <p:nvPr/>
        </p:nvSpPr>
        <p:spPr>
          <a:xfrm>
            <a:off x="822960" y="3383280"/>
            <a:ext cx="1051560" cy="292608"/>
          </a:xfrm>
          <a:prstGeom prst="roundRect">
            <a:avLst>
              <a:gd name="adj" fmla="val 1875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AND</a:t>
            </a:r>
            <a:endParaRPr lang="en-US" sz="1100" dirty="0"/>
          </a:p>
        </p:txBody>
      </p:sp>
      <p:sp>
        <p:nvSpPr>
          <p:cNvPr id="9" name="and-kod"/>
          <p:cNvSpPr txBox="1"/>
          <p:nvPr/>
        </p:nvSpPr>
        <p:spPr>
          <a:xfrm>
            <a:off x="822960" y="37947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=IF(AND(B59&lt;=B52,B58&lt;=B9),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"İki koşul sağlanıyor","En az bir koşul sağlanmıyor")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En az bir koşul sağlanmıyor</a:t>
            </a:r>
            <a:endParaRPr lang="en-US" sz="1500" dirty="0"/>
          </a:p>
        </p:txBody>
      </p:sp>
      <p:sp>
        <p:nvSpPr>
          <p:cNvPr id="10" name="or-kart"/>
          <p:cNvSpPr/>
          <p:nvPr/>
        </p:nvSpPr>
        <p:spPr>
          <a:xfrm>
            <a:off x="548640" y="4800600"/>
            <a:ext cx="11094415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or-etiket"/>
          <p:cNvSpPr txBox="1"/>
          <p:nvPr/>
        </p:nvSpPr>
        <p:spPr>
          <a:xfrm>
            <a:off x="822960" y="5029200"/>
            <a:ext cx="1051560" cy="292608"/>
          </a:xfrm>
          <a:prstGeom prst="roundRect">
            <a:avLst>
              <a:gd name="adj" fmla="val 1875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OR</a:t>
            </a:r>
            <a:endParaRPr lang="en-US" sz="1100" dirty="0"/>
          </a:p>
        </p:txBody>
      </p:sp>
      <p:sp>
        <p:nvSpPr>
          <p:cNvPr id="12" name="or-kod"/>
          <p:cNvSpPr txBox="1"/>
          <p:nvPr/>
        </p:nvSpPr>
        <p:spPr>
          <a:xfrm>
            <a:off x="822960" y="544068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=IF(OR(B59&gt;B52,B50&gt;B54),"Dikkat","Tamam")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Dikkat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0"/>
          <p:cNvSpPr/>
          <p:nvPr>
            <p:ph idx="130" type="body" hasCustomPrompt="1"/>
          </p:nvPr>
        </p:nvSpPr>
        <p:spPr>
          <a:xfrm>
            <a:off x="548640" y="10972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06</a:t>
            </a:r>
            <a:endParaRPr lang="en-US" sz="9600" dirty="0"/>
          </a:p>
        </p:txBody>
      </p:sp>
      <p:sp>
        <p:nvSpPr>
          <p:cNvPr id="3" name="Text 30"/>
          <p:cNvSpPr/>
          <p:nvPr>
            <p:ph idx="131" type="title" hasCustomPrompt="1"/>
          </p:nvPr>
        </p:nvSpPr>
        <p:spPr>
          <a:xfrm>
            <a:off x="548640" y="2606040"/>
            <a:ext cx="8595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Uygulama: üç kredi teklifi</a:t>
            </a:r>
            <a:endParaRPr lang="en-US" sz="4000" dirty="0"/>
          </a:p>
        </p:txBody>
      </p:sp>
      <p:sp>
        <p:nvSpPr>
          <p:cNvPr id="4" name="Text 30"/>
          <p:cNvSpPr/>
          <p:nvPr>
            <p:ph idx="132" type="body" hasCustomPrompt="1"/>
          </p:nvPr>
        </p:nvSpPr>
        <p:spPr>
          <a:xfrm>
            <a:off x="548640" y="41148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G1-G2 Excel · G3 Colab · G4 Excel ve Colab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06 · Teklifler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Üç teklif, 100.000 TL</a:t>
            </a:r>
            <a:endParaRPr lang="en-US" sz="3400" dirty="0"/>
          </a:p>
        </p:txBody>
      </p:sp>
      <p:graphicFrame>
        <p:nvGraphicFramePr>
          <p:cNvPr id="31" name="teklif-tabl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7665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011680"/>
                <a:gridCol w="146304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Teklif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Aylık akdi oran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Vade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Tahsis ücreti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%3,99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ay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TL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%4,05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ay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TL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%3,89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ay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TL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klif-girdi"/>
          <p:cNvSpPr/>
          <p:nvPr/>
        </p:nvSpPr>
        <p:spPr>
          <a:xfrm>
            <a:off x="7635240" y="1828800"/>
            <a:ext cx="4005072" cy="157276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eklif-girdi-metin"/>
          <p:cNvSpPr txBox="1"/>
          <p:nvPr/>
        </p:nvSpPr>
        <p:spPr>
          <a:xfrm>
            <a:off x="7909560" y="20574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Aylık net gelir: 24.000 TL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Bütçe eşiği: taksit / gelir ≤ %40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TCMB ortalaması: %63</a:t>
            </a:r>
            <a:endParaRPr lang="en-US" sz="1600" dirty="0"/>
          </a:p>
        </p:txBody>
      </p:sp>
      <p:sp>
        <p:nvSpPr>
          <p:cNvPr id="7" name="teklif-tahmin"/>
          <p:cNvSpPr txBox="1"/>
          <p:nvPr/>
        </p:nvSpPr>
        <p:spPr>
          <a:xfrm>
            <a:off x="548640" y="3749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Tahmin sorusu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Akdi oranı en düşük teklif, en düşük toplam faizi ve en düşük maliyeti de verir mi?</a:t>
            </a:r>
            <a:endParaRPr lang="en-US" sz="1800" dirty="0"/>
          </a:p>
        </p:txBody>
      </p:sp>
      <p:sp>
        <p:nvSpPr>
          <p:cNvPr id="8" name="alt-not"/>
          <p:cNvSpPr txBox="1"/>
          <p:nvPr/>
        </p:nvSpPr>
        <p:spPr>
          <a:xfrm>
            <a:off x="548640" y="5120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Teklifler, gelir ve eşik varsayımsaldır. Vergiler (KKDF, BSMV) modele dahil değildir. Kredi tavsiyesi değildir.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06 · Görevler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Dört görev, 50 dakika</a:t>
            </a:r>
            <a:endParaRPr lang="en-US" sz="3400" dirty="0"/>
          </a:p>
        </p:txBody>
      </p:sp>
      <p:sp>
        <p:nvSpPr>
          <p:cNvPr id="4" name="gorev-kart-0"/>
          <p:cNvSpPr/>
          <p:nvPr/>
        </p:nvSpPr>
        <p:spPr>
          <a:xfrm>
            <a:off x="548640" y="1828800"/>
            <a:ext cx="11094415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gorev-no-0"/>
          <p:cNvSpPr txBox="1"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G1</a:t>
            </a:r>
            <a:endParaRPr lang="en-US" sz="1800" dirty="0"/>
          </a:p>
        </p:txBody>
      </p:sp>
      <p:sp>
        <p:nvSpPr>
          <p:cNvPr id="6" name="gorev-sure-0"/>
          <p:cNvSpPr txBox="1"/>
          <p:nvPr/>
        </p:nvSpPr>
        <p:spPr>
          <a:xfrm>
            <a:off x="1554480" y="193852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Excel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12 dk</a:t>
            </a:r>
            <a:endParaRPr lang="en-US" sz="1500" dirty="0"/>
          </a:p>
        </p:txBody>
      </p:sp>
      <p:sp>
        <p:nvSpPr>
          <p:cNvPr id="7" name="gorev-metin-0"/>
          <p:cNvSpPr txBox="1"/>
          <p:nvPr/>
        </p:nvSpPr>
        <p:spPr>
          <a:xfrm>
            <a:off x="3383280" y="19659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Taksit, toplam ödeme, toplam faiz, taksit/gelir. Üç amortisman tablosu: A bloğu kurulur, karma başvuruyla kopyalanır.</a:t>
            </a:r>
            <a:endParaRPr lang="en-US" sz="1500" dirty="0"/>
          </a:p>
        </p:txBody>
      </p:sp>
      <p:sp>
        <p:nvSpPr>
          <p:cNvPr id="8" name="gorev-kart-1"/>
          <p:cNvSpPr/>
          <p:nvPr/>
        </p:nvSpPr>
        <p:spPr>
          <a:xfrm>
            <a:off x="548640" y="2852928"/>
            <a:ext cx="11094415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gorev-no-1"/>
          <p:cNvSpPr txBox="1"/>
          <p:nvPr/>
        </p:nvSpPr>
        <p:spPr>
          <a:xfrm>
            <a:off x="777240" y="3035808"/>
            <a:ext cx="548640" cy="54864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G2</a:t>
            </a:r>
            <a:endParaRPr lang="en-US" sz="1800" dirty="0"/>
          </a:p>
        </p:txBody>
      </p:sp>
      <p:sp>
        <p:nvSpPr>
          <p:cNvPr id="10" name="gorev-sure-1"/>
          <p:cNvSpPr txBox="1"/>
          <p:nvPr/>
        </p:nvSpPr>
        <p:spPr>
          <a:xfrm>
            <a:off x="1554480" y="2962656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Excel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12 dk</a:t>
            </a:r>
            <a:endParaRPr lang="en-US" sz="1500" dirty="0"/>
          </a:p>
        </p:txBody>
      </p:sp>
      <p:sp>
        <p:nvSpPr>
          <p:cNvPr id="11" name="gorev-metin-1"/>
          <p:cNvSpPr txBox="1"/>
          <p:nvPr/>
        </p:nvSpPr>
        <p:spPr>
          <a:xfrm>
            <a:off x="3383280" y="299008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Nakit akışları ve IRR ile aylık maliyet; yıllık karşılık; RANK.EQ ile sıra; IF ve AND ile bütçe kuralı; yorum.</a:t>
            </a:r>
            <a:endParaRPr lang="en-US" sz="1500" dirty="0"/>
          </a:p>
        </p:txBody>
      </p:sp>
      <p:sp>
        <p:nvSpPr>
          <p:cNvPr id="12" name="gorev-kart-2"/>
          <p:cNvSpPr/>
          <p:nvPr/>
        </p:nvSpPr>
        <p:spPr>
          <a:xfrm>
            <a:off x="548640" y="3877056"/>
            <a:ext cx="11094415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gorev-no-2"/>
          <p:cNvSpPr txBox="1"/>
          <p:nvPr/>
        </p:nvSpPr>
        <p:spPr>
          <a:xfrm>
            <a:off x="777240" y="4059936"/>
            <a:ext cx="548640" cy="548640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G3</a:t>
            </a:r>
            <a:endParaRPr lang="en-US" sz="1800" dirty="0"/>
          </a:p>
        </p:txBody>
      </p:sp>
      <p:sp>
        <p:nvSpPr>
          <p:cNvPr id="14" name="gorev-sure-2"/>
          <p:cNvSpPr txBox="1"/>
          <p:nvPr/>
        </p:nvSpPr>
        <p:spPr>
          <a:xfrm>
            <a:off x="1554480" y="3986784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Colab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12 dk</a:t>
            </a:r>
            <a:endParaRPr lang="en-US" sz="1500" dirty="0"/>
          </a:p>
        </p:txBody>
      </p:sp>
      <p:sp>
        <p:nvSpPr>
          <p:cNvPr id="15" name="gorev-metin-2"/>
          <p:cNvSpPr txBox="1"/>
          <p:nvPr/>
        </p:nvSpPr>
        <p:spPr>
          <a:xfrm>
            <a:off x="3383280" y="4014216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taksit(), amortisman(), maliyet() fonksiyonları; üç teklif bir döngüyle; Excel ile assert.</a:t>
            </a:r>
            <a:endParaRPr lang="en-US" sz="1500" dirty="0"/>
          </a:p>
        </p:txBody>
      </p:sp>
      <p:sp>
        <p:nvSpPr>
          <p:cNvPr id="16" name="gorev-kart-3"/>
          <p:cNvSpPr/>
          <p:nvPr/>
        </p:nvSpPr>
        <p:spPr>
          <a:xfrm>
            <a:off x="548640" y="4901184"/>
            <a:ext cx="11094415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gorev-no-3"/>
          <p:cNvSpPr txBox="1"/>
          <p:nvPr/>
        </p:nvSpPr>
        <p:spPr>
          <a:xfrm>
            <a:off x="777240" y="5084064"/>
            <a:ext cx="548640" cy="54864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G4</a:t>
            </a:r>
            <a:endParaRPr lang="en-US" sz="1800" dirty="0"/>
          </a:p>
        </p:txBody>
      </p:sp>
      <p:sp>
        <p:nvSpPr>
          <p:cNvPr id="18" name="gorev-sure-3"/>
          <p:cNvSpPr txBox="1"/>
          <p:nvPr/>
        </p:nvSpPr>
        <p:spPr>
          <a:xfrm>
            <a:off x="1554480" y="501091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Excel + Colab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14 dk</a:t>
            </a:r>
            <a:endParaRPr lang="en-US" sz="1500" dirty="0"/>
          </a:p>
        </p:txBody>
      </p:sp>
      <p:sp>
        <p:nvSpPr>
          <p:cNvPr id="19" name="gorev-metin-3"/>
          <p:cNvSpPr txBox="1"/>
          <p:nvPr/>
        </p:nvSpPr>
        <p:spPr>
          <a:xfrm>
            <a:off x="3383280" y="5038344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Tutar × vade ızgarası (Data Table) ve 7.500 TL sınırı; Python'da iç içe döngü ve en kısa vade. Açık uçlu yorum.</a:t>
            </a:r>
            <a:endParaRPr lang="en-US" sz="1500" dirty="0"/>
          </a:p>
        </p:txBody>
      </p:sp>
      <p:sp>
        <p:nvSpPr>
          <p:cNvPr id="20" name="alt-not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Sarı hücreler doldurulur. Formüle sayı yazılmaz; her sayı mavi bir girdi hücresindedir.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Çıkış kartı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Tek soru</a:t>
            </a:r>
            <a:endParaRPr lang="en-US" sz="3400" dirty="0"/>
          </a:p>
        </p:txBody>
      </p:sp>
      <p:sp>
        <p:nvSpPr>
          <p:cNvPr id="4" name="cikis-kart"/>
          <p:cNvSpPr/>
          <p:nvPr/>
        </p:nvSpPr>
        <p:spPr>
          <a:xfrm>
            <a:off x="548640" y="2011680"/>
            <a:ext cx="11094415" cy="2377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cikis-soru"/>
          <p:cNvSpPr txBox="1"/>
          <p:nvPr/>
        </p:nvSpPr>
        <p:spPr>
          <a:xfrm>
            <a:off x="1005840" y="201168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En düşük akdi oranlı kredi, en ucuz kredi midir? Cevap bir sayıyla gerekçelendirilir.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Kapanış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Özet ve sonraki hafta</a:t>
            </a:r>
            <a:endParaRPr lang="en-US" sz="3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182880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Taksit PMT ile bulunur; toplam faiz taksit × vade - tutardır.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Kredinin maliyeti ücretli akışın IRR'ıdır; TCMB'nin %63'ü de böyle hesaplanır.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Yıllık bileşik oran 12'ye bölünmez: %63 aylık %4,16'dır.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Goal Seek tersine çözer; Data Table duyarlılık üretir; IF karar kuralı yazar.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Maliyet, toplam faiz ve bütçe ayrı sorulardır.</a:t>
            </a:r>
            <a:endParaRPr lang="en-US" sz="18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8028432" y="2103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50" kern="0" dirty="0">
                <a:solidFill>
                  <a:schemeClr val="accent1"/>
                </a:solidFill>
              </a:rPr>
              <a:t>Sonraki hafta · 20 Ekim</a:t>
            </a:r>
            <a:endParaRPr lang="en-US" sz="1400" dirty="0"/>
          </a:p>
        </p:txBody>
      </p:sp>
      <p:sp>
        <p:nvSpPr>
          <p:cNvPr id="6" name="Text 2"/>
          <p:cNvSpPr/>
          <p:nvPr>
            <p:ph idx="106" type="body" hasCustomPrompt="1"/>
          </p:nvPr>
        </p:nvSpPr>
        <p:spPr>
          <a:xfrm>
            <a:off x="8028432" y="256032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Excel III: veriyle çalışma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Dolar ve Bitcoin 2025'ten bu yana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3"/>
                </a:solidFill>
              </a:rPr>
              <a:t>Finans temeli: getiri, döviz kuru, risk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046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</a:rPr>
              <a:t>Kapanış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Kaynaklar</a:t>
            </a:r>
            <a:endParaRPr lang="en-US" sz="3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1828800"/>
            <a:ext cx="1109441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[1] TCMB, Para Politikası Kurulu Toplantı Özeti, Sayı 2026-42, 17.09.2026, 5. paragraf.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[2] TCMB, Finansal Tüketicilerden Alınacak Ücretlere İlişkin Usûl ve Esaslar Hakkında Tebliğ (Sayı: 2020/7), md. 10/1.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[3] 2004/7735 sayılı Bakanlar Kurulu Kararı (KKDF); Resmî Gazete 15.08.2004.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[4] 7345 sayılı Cumhurbaşkanı Kararı (BSMV); Resmî Gazete 07.07.2023.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[5] Tüketici Kredisi Sözleşmeleri Yönetmeliği, md. 4/1-(ç) ve (i).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[6] TCMB, Kredi Faiz Oranları (Haftalık Akım, Ağırlıklı Ortalama) metaverisi, güncelleme 27.04.2026.</a:t>
            </a:r>
            <a:endParaRPr lang="en-US" sz="18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[7] TCMB, Faiz Oranlarına İlişkin Basın Duyurusu 2026-38, 10.09.2026.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Kredi, proje ve teklif sayıları varsayımsaldır. Erişim tarihi: 11.10.2026.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TEK 503">
  <a:themeElements>
    <a:clrScheme name="FTEK 503">
      <a:dk1>
        <a:srgbClr val="1E2430"/>
      </a:dk1>
      <a:lt1>
        <a:srgbClr val="FFFFFF"/>
      </a:lt1>
      <a:dk2>
        <a:srgbClr val="0B4F5C"/>
      </a:dk2>
      <a:lt2>
        <a:srgbClr val="EEF3F4"/>
      </a:lt2>
      <a:accent1>
        <a:srgbClr val="0B4F5C"/>
      </a:accent1>
      <a:accent2>
        <a:srgbClr val="D9822B"/>
      </a:accent2>
      <a:accent3>
        <a:srgbClr val="5F6B76"/>
      </a:accent3>
      <a:accent4>
        <a:srgbClr val="2E7D5B"/>
      </a:accent4>
      <a:accent5>
        <a:srgbClr val="3A5BA0"/>
      </a:accent5>
      <a:accent6>
        <a:srgbClr val="B23A48"/>
      </a:accent6>
      <a:hlink>
        <a:srgbClr val="0B6E80"/>
      </a:hlink>
      <a:folHlink>
        <a:srgbClr val="6B4E9B"/>
      </a:folHlink>
    </a:clrScheme>
    <a:fontScheme name="FTEK 503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oturum: Excel II, kredi ve karar araçları</dc:title>
  <dc:subject>FTEK 503 Finansal Programlama, Güz 2026</dc:subject>
  <dc:creator>Doç. Dr. Alper Özpınar</dc:creator>
  <cp:lastModifiedBy>Doç. Dr. Alper Özpınar</cp:lastModifiedBy>
  <cp:revision>1</cp:revision>
  <dcterms:created xsi:type="dcterms:W3CDTF">2026-10-13T13:01:22Z</dcterms:created>
  <dcterms:modified xsi:type="dcterms:W3CDTF">2026-10-13T13:01:22Z</dcterms:modified>
</cp:coreProperties>
</file>