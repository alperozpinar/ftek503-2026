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çılış" id="{3cf84c24-fc9e-31d4-d9ce-b4452fd4070e}">
          <p14:sldIdLst>
            <p14:sldId id="256"/>
            <p14:sldId id="257"/>
          </p14:sldIdLst>
        </p14:section>
        <p14:section name="01 Finansal programlama" id="{2a9f5d5f-7a4d-c83a-4779-05a3dc7f86c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02 Faiz türleri" id="{f3e79607-e2e4-38ef-5141-ebfc9ffa4392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03 Uygulama" id="{3ba719f6-98f7-e8e9-3fbc-e18a369357b6}">
          <p14:sldIdLst>
            <p14:sldId id="276"/>
            <p14:sldId id="277"/>
            <p14:sldId id="278"/>
          </p14:sldIdLst>
        </p14:section>
        <p14:section name="Ek Kredi ve amortisman" id="{e114bbc4-75c4-ee2e-16f8-7aa50a80ca4c}">
          <p14:sldIdLst>
            <p14:sldId id="279"/>
            <p14:sldId id="280"/>
            <p14:sldId id="281"/>
            <p14:sldId id="282"/>
            <p14:sldId id="283"/>
          </p14:sldIdLst>
        </p14:section>
        <p14:section name="Kapanış" id="{23fa9c58-471a-f585-28a2-7c55eefe03f9}">
          <p14:sldIdLst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430"/>
                </a:solidFill>
                <a:latin typeface="+mn-lt"/>
              </a:rPr>
              <a:t>Doğru cevap oranı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Türkiye</c:v>
                </c:pt>
              </c:strCache>
            </c:strRef>
          </c:tx>
          <c:spPr>
            <a:solidFill>
              <a:srgbClr val="0B4F5C"/>
            </a:solidFill>
            <a:effectLst/>
          </c:spPr>
          <c:invertIfNegative val="0"/>
          <c:dLbls>
            <c:numFmt formatCode="&quot;%&quot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Basit faiz sorusu</c:v>
                  </c:pt>
                  <c:pt idx="1">
                    <c:v>Bileşik faiz sorusu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Anket ortalaması</c:v>
                </c:pt>
              </c:strCache>
            </c:strRef>
          </c:tx>
          <c:spPr>
            <a:solidFill>
              <a:srgbClr val="B7C4C9"/>
            </a:solidFill>
            <a:effectLst/>
          </c:spPr>
          <c:invertIfNegative val="0"/>
          <c:dLbls>
            <c:numFmt formatCode="&quot;%&quot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Basit faiz sorusu</c:v>
                  </c:pt>
                  <c:pt idx="1">
                    <c:v>Bileşik faiz sorusu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58</c:v>
                </c:pt>
                <c:pt idx="1">
                  <c:v>42</c:v>
                </c:pt>
              </c:numCache>
            </c:numRef>
          </c:val>
        </c:ser>
        <c:dLbls>
          <c:numFmt formatCode="&quot;%&quot;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2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Yıllık etkin oran</c:v>
                </c:pt>
              </c:strCache>
            </c:strRef>
          </c:tx>
          <c:spPr>
            <a:solidFill>
              <a:srgbClr val="0B4F5C"/>
            </a:solidFill>
            <a:effectLst/>
          </c:spPr>
          <c:invertIfNegative val="0"/>
          <c:dLbls>
            <c:numFmt formatCode="&quot;%&quot;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Yıllık (m = 1)</c:v>
                  </c:pt>
                  <c:pt idx="1">
                    <c:v>6 aylık (m = 2)</c:v>
                  </c:pt>
                  <c:pt idx="2">
                    <c:v>3 aylık (m = 4)</c:v>
                  </c:pt>
                  <c:pt idx="3">
                    <c:v>Aylık (m = 12)</c:v>
                  </c:pt>
                  <c:pt idx="4">
                    <c:v>Sürekli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44</c:v>
                </c:pt>
                <c:pt idx="2">
                  <c:v>46.41</c:v>
                </c:pt>
                <c:pt idx="3">
                  <c:v>48.21</c:v>
                </c:pt>
                <c:pt idx="4">
                  <c:v>49.18</c:v>
                </c:pt>
              </c:numCache>
            </c:numRef>
          </c:val>
        </c:ser>
        <c:dLbls>
          <c:numFmt formatCode="&quot;%&quot;0.00" sourceLinked="0"/>
          <c:txPr>
            <a:bodyPr/>
            <a:lstStyle/>
            <a:p>
              <a:pPr>
                <a:defRPr b="0" i="0" strike="noStrike" sz="1300" u="none">
                  <a:solidFill>
                    <a:srgbClr val="1E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2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Faiz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3000</c:v>
                </c:pt>
                <c:pt idx="1">
                  <c:v>2788.61</c:v>
                </c:pt>
                <c:pt idx="2">
                  <c:v>2570.89</c:v>
                </c:pt>
                <c:pt idx="3">
                  <c:v>2346.63</c:v>
                </c:pt>
                <c:pt idx="4">
                  <c:v>2115.64</c:v>
                </c:pt>
                <c:pt idx="5">
                  <c:v>1877.72</c:v>
                </c:pt>
                <c:pt idx="6">
                  <c:v>1632.67</c:v>
                </c:pt>
                <c:pt idx="7">
                  <c:v>1380.26</c:v>
                </c:pt>
                <c:pt idx="8">
                  <c:v>1120.28</c:v>
                </c:pt>
                <c:pt idx="9">
                  <c:v>852.5</c:v>
                </c:pt>
                <c:pt idx="10">
                  <c:v>576.69</c:v>
                </c:pt>
                <c:pt idx="11">
                  <c:v>292.61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Anapara</c:v>
                </c:pt>
              </c:strCache>
            </c:strRef>
          </c:tx>
          <c:spPr>
            <a:solidFill>
              <a:srgbClr val="0B4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7046.21</c:v>
                </c:pt>
                <c:pt idx="1">
                  <c:v>7257.59</c:v>
                </c:pt>
                <c:pt idx="2">
                  <c:v>7475.32</c:v>
                </c:pt>
                <c:pt idx="3">
                  <c:v>7699.58</c:v>
                </c:pt>
                <c:pt idx="4">
                  <c:v>7930.57</c:v>
                </c:pt>
                <c:pt idx="5">
                  <c:v>8168.49</c:v>
                </c:pt>
                <c:pt idx="6">
                  <c:v>8413.54</c:v>
                </c:pt>
                <c:pt idx="7">
                  <c:v>8665.95</c:v>
                </c:pt>
                <c:pt idx="8">
                  <c:v>8925.93</c:v>
                </c:pt>
                <c:pt idx="9">
                  <c:v>9193.7</c:v>
                </c:pt>
                <c:pt idx="10">
                  <c:v>9469.52</c:v>
                </c:pt>
                <c:pt idx="11">
                  <c:v>9753.6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6B7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F6B76"/>
                    </a:solidFill>
                    <a:latin typeface="+mn-lt"/>
                  </a:rPr>
                  <a:t>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2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  <c:min val="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41080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2843784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3319272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8641080" y="379476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8641080" y="427024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8641080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9116568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9116568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9116568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6568" y="2843784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16568" y="3319272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16568" y="379476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9116568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Shape 15"/>
          <p:cNvSpPr/>
          <p:nvPr/>
        </p:nvSpPr>
        <p:spPr>
          <a:xfrm>
            <a:off x="9116568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Shape 16"/>
          <p:cNvSpPr/>
          <p:nvPr/>
        </p:nvSpPr>
        <p:spPr>
          <a:xfrm>
            <a:off x="9592056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9592056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9592056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9592056" y="2843784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9592056" y="3319272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1"/>
          <p:cNvSpPr/>
          <p:nvPr/>
        </p:nvSpPr>
        <p:spPr>
          <a:xfrm>
            <a:off x="9592056" y="379476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9592056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hape 23"/>
          <p:cNvSpPr/>
          <p:nvPr/>
        </p:nvSpPr>
        <p:spPr>
          <a:xfrm>
            <a:off x="9592056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67544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67544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67544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67544" y="2843784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67544" y="3319272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67544" y="3794760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67544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67544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43032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43032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43032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43032" y="2843784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Shape 36"/>
          <p:cNvSpPr/>
          <p:nvPr/>
        </p:nvSpPr>
        <p:spPr>
          <a:xfrm>
            <a:off x="10543032" y="3319272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43032" y="3794760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43032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43032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18520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18520" y="1892808"/>
            <a:ext cx="402336" cy="40233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18520" y="236829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18520" y="2843784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18520" y="3319272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18520" y="3794760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8" name="Shape 46"/>
          <p:cNvSpPr/>
          <p:nvPr/>
        </p:nvSpPr>
        <p:spPr>
          <a:xfrm>
            <a:off x="11018520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9" name="Shape 47"/>
          <p:cNvSpPr/>
          <p:nvPr/>
        </p:nvSpPr>
        <p:spPr>
          <a:xfrm>
            <a:off x="11018520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0" name="Text 48"/>
          <p:cNvSpPr/>
          <p:nvPr>
            <p:ph idx="148" type="body" hasCustomPrompt="1"/>
          </p:nvPr>
        </p:nvSpPr>
        <p:spPr>
          <a:xfrm>
            <a:off x="804672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H0 · tarih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548640" y="1504188"/>
            <a:ext cx="155448" cy="1554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2" name="Text 49"/>
          <p:cNvSpPr/>
          <p:nvPr>
            <p:ph idx="150" type="title" hasCustomPrompt="1"/>
          </p:nvPr>
        </p:nvSpPr>
        <p:spPr>
          <a:xfrm>
            <a:off x="548640" y="1920240"/>
            <a:ext cx="7772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Dersin başlığı</a:t>
            </a:r>
            <a:endParaRPr lang="en-US" sz="4000" dirty="0"/>
          </a:p>
        </p:txBody>
      </p:sp>
      <p:sp>
        <p:nvSpPr>
          <p:cNvPr id="53" name="Text 49"/>
          <p:cNvSpPr/>
          <p:nvPr>
            <p:ph idx="151" type="body" hasCustomPrompt="1"/>
          </p:nvPr>
        </p:nvSpPr>
        <p:spPr>
          <a:xfrm>
            <a:off x="548640" y="374904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Alt başlık: haftanın sorusu</a:t>
            </a:r>
            <a:endParaRPr lang="en-US" sz="2000" dirty="0"/>
          </a:p>
        </p:txBody>
      </p:sp>
      <p:sp>
        <p:nvSpPr>
          <p:cNvPr id="54" name="Text 49"/>
          <p:cNvSpPr/>
          <p:nvPr/>
        </p:nvSpPr>
        <p:spPr>
          <a:xfrm>
            <a:off x="54864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Doç. Dr. Alper Özpınar</a:t>
            </a:r>
            <a:endParaRPr lang="en-US" sz="1600" dirty="0"/>
          </a:p>
        </p:txBody>
      </p:sp>
      <p:sp>
        <p:nvSpPr>
          <p:cNvPr id="55" name="Text 50"/>
          <p:cNvSpPr/>
          <p:nvPr/>
        </p:nvSpPr>
        <p:spPr>
          <a:xfrm>
            <a:off x="548640" y="5577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FTEK 503 Finansal Programlama · İbn Haldun Üniversitesi, Finansal Teknolojiler Yüksek Lisans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U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148840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523744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2898648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3273552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3648456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0067544" y="2148840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10067544" y="2523744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10067544" y="2898648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67544" y="3273552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67544" y="364845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67544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42448" y="2148840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42448" y="2523744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42448" y="2898648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42448" y="327355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42448" y="364845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42448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17352" y="2148840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17352" y="2523744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17352" y="2898648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17352" y="327355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17352" y="364845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17352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92256" y="2148840"/>
            <a:ext cx="310896" cy="3108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92256" y="252374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92256" y="2898648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92256" y="327355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92256" y="364845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92256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01</a:t>
            </a:r>
            <a:endParaRPr lang="en-US" sz="9600" dirty="0"/>
          </a:p>
        </p:txBody>
      </p:sp>
      <p:sp>
        <p:nvSpPr>
          <p:cNvPr id="3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Bölüm başlığı</a:t>
            </a:r>
            <a:endParaRPr lang="en-US" sz="4000" dirty="0"/>
          </a:p>
        </p:txBody>
      </p:sp>
      <p:sp>
        <p:nvSpPr>
          <p:cNvPr id="3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Bölümün tek cümlelik özeti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LI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828800"/>
            <a:ext cx="1109441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Metin</a:t>
            </a:r>
            <a:endParaRPr lang="en-US" sz="1800" dirty="0"/>
          </a:p>
        </p:txBody>
      </p:sp>
      <p:sp>
        <p:nvSpPr>
          <p:cNvPr id="6" name="Text 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_NO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Metin</a:t>
            </a:r>
            <a:endParaRPr lang="en-US" sz="1800" dirty="0"/>
          </a:p>
        </p:txBody>
      </p:sp>
      <p:sp>
        <p:nvSpPr>
          <p:cNvPr id="6" name="Shape 1"/>
          <p:cNvSpPr/>
          <p:nvPr/>
        </p:nvSpPr>
        <p:spPr>
          <a:xfrm>
            <a:off x="7708392" y="1828800"/>
            <a:ext cx="393192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8028432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Yan not</a:t>
            </a:r>
            <a:endParaRPr lang="en-US" sz="14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8028432" y="2560320"/>
            <a:ext cx="329184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6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Yan notun metni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KI_SUTU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48640" y="1828800"/>
            <a:ext cx="5367528" cy="3794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2"/>
          <p:cNvSpPr/>
          <p:nvPr/>
        </p:nvSpPr>
        <p:spPr>
          <a:xfrm>
            <a:off x="6275527" y="1828800"/>
            <a:ext cx="5367528" cy="3794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Sol başlık</a:t>
            </a:r>
            <a:endParaRPr lang="en-US" sz="18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868680" y="2606040"/>
            <a:ext cx="47548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6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Sol metin</a:t>
            </a:r>
            <a:endParaRPr lang="en-US" sz="16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595567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Sağ başlık</a:t>
            </a:r>
            <a:endParaRPr lang="en-US" sz="18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6595567" y="2606040"/>
            <a:ext cx="47548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6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Sağ metin</a:t>
            </a:r>
            <a:endParaRPr lang="en-US" sz="16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Alt not</a:t>
            </a:r>
            <a:endParaRPr lang="en-US" sz="1300" dirty="0"/>
          </a:p>
        </p:txBody>
      </p:sp>
      <p:sp>
        <p:nvSpPr>
          <p:cNvPr id="12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RS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548640" y="1783080"/>
            <a:ext cx="7498080" cy="4311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accent3"/>
                </a:solidFill>
              </a:rPr>
              <a:t>Görsel</a:t>
            </a:r>
            <a:endParaRPr lang="en-US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412480" y="1874520"/>
            <a:ext cx="3227832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Yorum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8"/>
          <p:cNvSpPr/>
          <p:nvPr>
            <p:ph idx="148" type="body" hasCustomPrompt="1"/>
          </p:nvPr>
        </p:nvSpPr>
        <p:spPr>
          <a:xfrm>
            <a:off x="804672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H2 · 6 Ekim 2026</a:t>
            </a:r>
            <a:endParaRPr lang="en-US" sz="1400" dirty="0"/>
          </a:p>
        </p:txBody>
      </p:sp>
      <p:sp>
        <p:nvSpPr>
          <p:cNvPr id="3" name="Text 49"/>
          <p:cNvSpPr/>
          <p:nvPr>
            <p:ph idx="150" type="title" hasCustomPrompt="1"/>
          </p:nvPr>
        </p:nvSpPr>
        <p:spPr>
          <a:xfrm>
            <a:off x="548640" y="19202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Finansal programlamaya teknik giriş</a:t>
            </a:r>
            <a:endParaRPr lang="en-US" sz="4000" dirty="0"/>
          </a:p>
        </p:txBody>
      </p:sp>
      <p:sp>
        <p:nvSpPr>
          <p:cNvPr id="4" name="Text 49"/>
          <p:cNvSpPr/>
          <p:nvPr>
            <p:ph idx="151" type="body" hasCustomPrompt="1"/>
          </p:nvPr>
        </p:nvSpPr>
        <p:spPr>
          <a:xfrm>
            <a:off x="54864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Faiz ve faiz türleri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Açılış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Dersin akışı</a:t>
            </a:r>
            <a:endParaRPr lang="en-US" sz="3400" dirty="0"/>
          </a:p>
        </p:txBody>
      </p:sp>
      <p:sp>
        <p:nvSpPr>
          <p:cNvPr id="4" name="blok-kart-0"/>
          <p:cNvSpPr/>
          <p:nvPr/>
        </p:nvSpPr>
        <p:spPr>
          <a:xfrm>
            <a:off x="548640" y="1874520"/>
            <a:ext cx="11094415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blok-no-0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blok-saat-0"/>
          <p:cNvSpPr txBox="1"/>
          <p:nvPr/>
        </p:nvSpPr>
        <p:spPr>
          <a:xfrm>
            <a:off x="164592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13:30-14:20</a:t>
            </a:r>
            <a:endParaRPr lang="en-US" sz="2400" dirty="0"/>
          </a:p>
        </p:txBody>
      </p:sp>
      <p:sp>
        <p:nvSpPr>
          <p:cNvPr id="7" name="blok-baslik-0"/>
          <p:cNvSpPr txBox="1"/>
          <p:nvPr/>
        </p:nvSpPr>
        <p:spPr>
          <a:xfrm>
            <a:off x="4206240" y="21488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Finansal okuryazarlık ve finansal programlama</a:t>
            </a:r>
            <a:endParaRPr lang="en-US" sz="2400" dirty="0"/>
          </a:p>
        </p:txBody>
      </p:sp>
      <p:sp>
        <p:nvSpPr>
          <p:cNvPr id="8" name="blok-kart-1"/>
          <p:cNvSpPr/>
          <p:nvPr/>
        </p:nvSpPr>
        <p:spPr>
          <a:xfrm>
            <a:off x="548640" y="3200400"/>
            <a:ext cx="11094415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blok-no-1"/>
          <p:cNvSpPr txBox="1"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blok-saat-1"/>
          <p:cNvSpPr txBox="1"/>
          <p:nvPr/>
        </p:nvSpPr>
        <p:spPr>
          <a:xfrm>
            <a:off x="1645920" y="3474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14:30-15:20</a:t>
            </a:r>
            <a:endParaRPr lang="en-US" sz="2400" dirty="0"/>
          </a:p>
        </p:txBody>
      </p:sp>
      <p:sp>
        <p:nvSpPr>
          <p:cNvPr id="11" name="blok-baslik-1"/>
          <p:cNvSpPr txBox="1"/>
          <p:nvPr/>
        </p:nvSpPr>
        <p:spPr>
          <a:xfrm>
            <a:off x="4206240" y="34747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Faiz türleri ve teknik hesaplar</a:t>
            </a:r>
            <a:endParaRPr lang="en-US" sz="2400" dirty="0"/>
          </a:p>
        </p:txBody>
      </p:sp>
      <p:sp>
        <p:nvSpPr>
          <p:cNvPr id="12" name="blok-kart-2"/>
          <p:cNvSpPr/>
          <p:nvPr/>
        </p:nvSpPr>
        <p:spPr>
          <a:xfrm>
            <a:off x="548640" y="4526280"/>
            <a:ext cx="11094415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blok-no-2"/>
          <p:cNvSpPr txBox="1"/>
          <p:nvPr/>
        </p:nvSpPr>
        <p:spPr>
          <a:xfrm>
            <a:off x="868680" y="484632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blok-saat-2"/>
          <p:cNvSpPr txBox="1"/>
          <p:nvPr/>
        </p:nvSpPr>
        <p:spPr>
          <a:xfrm>
            <a:off x="1645920" y="4800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15:30-16:20</a:t>
            </a:r>
            <a:endParaRPr lang="en-US" sz="2400" dirty="0"/>
          </a:p>
        </p:txBody>
      </p:sp>
      <p:sp>
        <p:nvSpPr>
          <p:cNvPr id="15" name="blok-baslik-2"/>
          <p:cNvSpPr txBox="1"/>
          <p:nvPr/>
        </p:nvSpPr>
        <p:spPr>
          <a:xfrm>
            <a:off x="4206240" y="48006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Uygulama G1-G4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Finansal okuryazarlık ve finansal programlama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Isınma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Finansal okuryazarlık ısınma testi</a:t>
            </a:r>
            <a:endParaRPr lang="en-US" sz="3400" dirty="0"/>
          </a:p>
        </p:txBody>
      </p:sp>
      <p:sp>
        <p:nvSpPr>
          <p:cNvPr id="4" name="soru-kart-0"/>
          <p:cNvSpPr/>
          <p:nvPr/>
        </p:nvSpPr>
        <p:spPr>
          <a:xfrm>
            <a:off x="548640" y="1874520"/>
            <a:ext cx="3576218" cy="3657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oru-no-0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oru-metin-0"/>
          <p:cNvSpPr txBox="1"/>
          <p:nvPr/>
        </p:nvSpPr>
        <p:spPr>
          <a:xfrm>
            <a:off x="822960" y="28346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Tasarruf hesabınızda 100 TL var, faiz yıllık %2. Parayı hiç çekmezseniz 5 yıl sonra hesapta ne olur?</a:t>
            </a:r>
            <a:endParaRPr lang="en-US" sz="1600" dirty="0"/>
          </a:p>
        </p:txBody>
      </p:sp>
      <p:sp>
        <p:nvSpPr>
          <p:cNvPr id="7" name="soru-secenek-0"/>
          <p:cNvSpPr txBox="1"/>
          <p:nvPr/>
        </p:nvSpPr>
        <p:spPr>
          <a:xfrm>
            <a:off x="822960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(a) 102 TL'den fazla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(b) tam 102 TL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(c) 102 TL'den az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(d) bilmiyorum</a:t>
            </a:r>
            <a:endParaRPr lang="en-US" sz="1400" dirty="0"/>
          </a:p>
        </p:txBody>
      </p:sp>
      <p:sp>
        <p:nvSpPr>
          <p:cNvPr id="8" name="soru-kart-1"/>
          <p:cNvSpPr/>
          <p:nvPr/>
        </p:nvSpPr>
        <p:spPr>
          <a:xfrm>
            <a:off x="4307738" y="1874520"/>
            <a:ext cx="3576218" cy="3657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oru-no-1"/>
          <p:cNvSpPr txBox="1"/>
          <p:nvPr/>
        </p:nvSpPr>
        <p:spPr>
          <a:xfrm>
            <a:off x="4582058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oru-metin-1"/>
          <p:cNvSpPr txBox="1"/>
          <p:nvPr/>
        </p:nvSpPr>
        <p:spPr>
          <a:xfrm>
            <a:off x="4582058" y="28346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Hesabınızın faizi yıllık %1, enflasyon yıllık %2. Bir yıl sonra bu parayla ne alabilirsiniz?</a:t>
            </a:r>
            <a:endParaRPr lang="en-US" sz="1600" dirty="0"/>
          </a:p>
        </p:txBody>
      </p:sp>
      <p:sp>
        <p:nvSpPr>
          <p:cNvPr id="11" name="soru-secenek-1"/>
          <p:cNvSpPr txBox="1"/>
          <p:nvPr/>
        </p:nvSpPr>
        <p:spPr>
          <a:xfrm>
            <a:off x="4582058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(a) bugünden fazla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(b) bugünle aynı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(c) bugünden az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(d) bilmiyorum</a:t>
            </a:r>
            <a:endParaRPr lang="en-US" sz="1400" dirty="0"/>
          </a:p>
        </p:txBody>
      </p:sp>
      <p:sp>
        <p:nvSpPr>
          <p:cNvPr id="12" name="soru-kart-2"/>
          <p:cNvSpPr/>
          <p:nvPr/>
        </p:nvSpPr>
        <p:spPr>
          <a:xfrm>
            <a:off x="8066837" y="1874520"/>
            <a:ext cx="3576218" cy="3657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oru-no-2"/>
          <p:cNvSpPr txBox="1"/>
          <p:nvPr/>
        </p:nvSpPr>
        <p:spPr>
          <a:xfrm>
            <a:off x="8341157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oru-metin-2"/>
          <p:cNvSpPr txBox="1"/>
          <p:nvPr/>
        </p:nvSpPr>
        <p:spPr>
          <a:xfrm>
            <a:off x="8341157" y="28346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Doğru mu, yanlış mı? “Tek bir şirketin hissesini almak, genellikle bir hisse senedi yatırım fonundan daha güvenli getiri sağlar.”</a:t>
            </a:r>
            <a:endParaRPr lang="en-US" sz="1600" dirty="0"/>
          </a:p>
        </p:txBody>
      </p:sp>
      <p:sp>
        <p:nvSpPr>
          <p:cNvPr id="15" name="soru-secenek-2"/>
          <p:cNvSpPr txBox="1"/>
          <p:nvPr/>
        </p:nvSpPr>
        <p:spPr>
          <a:xfrm>
            <a:off x="8341157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Doğru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Yanlış</a:t>
            </a:r>
            <a:endParaRPr lang="en-US" sz="1400" dirty="0"/>
          </a:p>
        </p:txBody>
      </p:sp>
      <p:sp>
        <p:nvSpPr>
          <p:cNvPr id="16" name="alt-not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Kaynak: Lusardi ve Mitchell [4].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Isınma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Isınma testinin cevapları</a:t>
            </a:r>
            <a:endParaRPr lang="en-US" sz="3400" dirty="0"/>
          </a:p>
        </p:txBody>
      </p:sp>
      <p:sp>
        <p:nvSpPr>
          <p:cNvPr id="4" name="cevap-no-0"/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cevap-baslik-0"/>
          <p:cNvSpPr txBox="1"/>
          <p:nvPr/>
        </p:nvSpPr>
        <p:spPr>
          <a:xfrm>
            <a:off x="1280160" y="1874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(a) 102 TL'den fazla</a:t>
            </a:r>
            <a:endParaRPr lang="en-US" sz="2000" dirty="0"/>
          </a:p>
        </p:txBody>
      </p:sp>
      <p:sp>
        <p:nvSpPr>
          <p:cNvPr id="6" name="cevap-metin-0"/>
          <p:cNvSpPr txBox="1"/>
          <p:nvPr/>
        </p:nvSpPr>
        <p:spPr>
          <a:xfrm>
            <a:off x="1280160" y="2331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100 × 1,02^5 = 110,41 TL. Faiz faize işler.</a:t>
            </a:r>
            <a:endParaRPr lang="en-US" sz="1600" dirty="0"/>
          </a:p>
        </p:txBody>
      </p:sp>
      <p:sp>
        <p:nvSpPr>
          <p:cNvPr id="7" name="cevap-no-1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cevap-baslik-1"/>
          <p:cNvSpPr txBox="1"/>
          <p:nvPr/>
        </p:nvSpPr>
        <p:spPr>
          <a:xfrm>
            <a:off x="1280160" y="3154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(c) bugünden az</a:t>
            </a:r>
            <a:endParaRPr lang="en-US" sz="2000" dirty="0"/>
          </a:p>
        </p:txBody>
      </p:sp>
      <p:sp>
        <p:nvSpPr>
          <p:cNvPr id="9" name="cevap-metin-1"/>
          <p:cNvSpPr txBox="1"/>
          <p:nvPr/>
        </p:nvSpPr>
        <p:spPr>
          <a:xfrm>
            <a:off x="1280160" y="3611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Reel getiri: 1,01 / 1,02 − 1 = −%0,98.</a:t>
            </a:r>
            <a:endParaRPr lang="en-US" sz="1600" dirty="0"/>
          </a:p>
        </p:txBody>
      </p:sp>
      <p:sp>
        <p:nvSpPr>
          <p:cNvPr id="10" name="cevap-no-2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cevap-baslik-2"/>
          <p:cNvSpPr txBox="1"/>
          <p:nvPr/>
        </p:nvSpPr>
        <p:spPr>
          <a:xfrm>
            <a:off x="1280160" y="4434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Yanlış</a:t>
            </a:r>
            <a:endParaRPr lang="en-US" sz="2000" dirty="0"/>
          </a:p>
        </p:txBody>
      </p:sp>
      <p:sp>
        <p:nvSpPr>
          <p:cNvPr id="12" name="cevap-metin-2"/>
          <p:cNvSpPr txBox="1"/>
          <p:nvPr/>
        </p:nvSpPr>
        <p:spPr>
          <a:xfrm>
            <a:off x="1280160" y="4892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Çeşitlendirme riski azaltır.</a:t>
            </a:r>
            <a:endParaRPr lang="en-US" sz="1600" dirty="0"/>
          </a:p>
        </p:txBody>
      </p:sp>
      <p:graphicFrame>
        <p:nvGraphicFramePr>
          <p:cNvPr id="13" name="oecd-grafik" descr=""/>
          <p:cNvGraphicFramePr/>
          <p:nvPr/>
        </p:nvGraphicFramePr>
        <p:xfrm>
          <a:off x="6766560" y="1828800"/>
          <a:ext cx="487375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alt-not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Kaynak: OECD (2016), Türkiye verisi 2015 [5].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Tanım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Finansal programlamanın dört adımı</a:t>
            </a:r>
            <a:endParaRPr lang="en-US" sz="3400" dirty="0"/>
          </a:p>
        </p:txBody>
      </p:sp>
      <p:sp>
        <p:nvSpPr>
          <p:cNvPr id="4" name="adim-kart-0"/>
          <p:cNvSpPr/>
          <p:nvPr/>
        </p:nvSpPr>
        <p:spPr>
          <a:xfrm>
            <a:off x="548640" y="1874520"/>
            <a:ext cx="2450592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adim-no-0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adim-baslik-0"/>
          <p:cNvSpPr txBox="1"/>
          <p:nvPr/>
        </p:nvSpPr>
        <p:spPr>
          <a:xfrm>
            <a:off x="822960" y="281635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Veri</a:t>
            </a:r>
            <a:endParaRPr lang="en-US" sz="2200" dirty="0"/>
          </a:p>
        </p:txBody>
      </p:sp>
      <p:sp>
        <p:nvSpPr>
          <p:cNvPr id="7" name="adim-metin-0"/>
          <p:cNvSpPr txBox="1"/>
          <p:nvPr/>
        </p:nvSpPr>
        <p:spPr>
          <a:xfrm>
            <a:off x="822960" y="32735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Tutar, oran, süre, piyasa serisi</a:t>
            </a:r>
            <a:endParaRPr lang="en-US" sz="1500" dirty="0"/>
          </a:p>
        </p:txBody>
      </p:sp>
      <p:sp>
        <p:nvSpPr>
          <p:cNvPr id="8" name="ok-0"/>
          <p:cNvSpPr/>
          <p:nvPr/>
        </p:nvSpPr>
        <p:spPr>
          <a:xfrm>
            <a:off x="3108960" y="2834640"/>
            <a:ext cx="201168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9" name="adim-kart-1"/>
          <p:cNvSpPr/>
          <p:nvPr/>
        </p:nvSpPr>
        <p:spPr>
          <a:xfrm>
            <a:off x="3429000" y="1874520"/>
            <a:ext cx="2450592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adim-no-1"/>
          <p:cNvSpPr txBox="1"/>
          <p:nvPr/>
        </p:nvSpPr>
        <p:spPr>
          <a:xfrm>
            <a:off x="3703320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adim-baslik-1"/>
          <p:cNvSpPr txBox="1"/>
          <p:nvPr/>
        </p:nvSpPr>
        <p:spPr>
          <a:xfrm>
            <a:off x="3703320" y="281635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Model</a:t>
            </a:r>
            <a:endParaRPr lang="en-US" sz="2200" dirty="0"/>
          </a:p>
        </p:txBody>
      </p:sp>
      <p:sp>
        <p:nvSpPr>
          <p:cNvPr id="12" name="adim-metin-1"/>
          <p:cNvSpPr txBox="1"/>
          <p:nvPr/>
        </p:nvSpPr>
        <p:spPr>
          <a:xfrm>
            <a:off x="3703320" y="32735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Formül: değişkenler arasındaki ilişki</a:t>
            </a:r>
            <a:endParaRPr lang="en-US" sz="1500" dirty="0"/>
          </a:p>
        </p:txBody>
      </p:sp>
      <p:sp>
        <p:nvSpPr>
          <p:cNvPr id="13" name="ok-1"/>
          <p:cNvSpPr/>
          <p:nvPr/>
        </p:nvSpPr>
        <p:spPr>
          <a:xfrm>
            <a:off x="5989320" y="2834640"/>
            <a:ext cx="201168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4" name="adim-kart-2"/>
          <p:cNvSpPr/>
          <p:nvPr/>
        </p:nvSpPr>
        <p:spPr>
          <a:xfrm>
            <a:off x="6309360" y="1874520"/>
            <a:ext cx="2450592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adim-no-2"/>
          <p:cNvSpPr txBox="1"/>
          <p:nvPr/>
        </p:nvSpPr>
        <p:spPr>
          <a:xfrm>
            <a:off x="6583680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adim-baslik-2"/>
          <p:cNvSpPr txBox="1"/>
          <p:nvPr/>
        </p:nvSpPr>
        <p:spPr>
          <a:xfrm>
            <a:off x="6583680" y="281635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Algoritma</a:t>
            </a:r>
            <a:endParaRPr lang="en-US" sz="2200" dirty="0"/>
          </a:p>
        </p:txBody>
      </p:sp>
      <p:sp>
        <p:nvSpPr>
          <p:cNvPr id="17" name="adim-metin-2"/>
          <p:cNvSpPr txBox="1"/>
          <p:nvPr/>
        </p:nvSpPr>
        <p:spPr>
          <a:xfrm>
            <a:off x="6583680" y="32735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Adımlar ve döngüler</a:t>
            </a:r>
            <a:endParaRPr lang="en-US" sz="1500" dirty="0"/>
          </a:p>
        </p:txBody>
      </p:sp>
      <p:sp>
        <p:nvSpPr>
          <p:cNvPr id="18" name="ok-2"/>
          <p:cNvSpPr/>
          <p:nvPr/>
        </p:nvSpPr>
        <p:spPr>
          <a:xfrm>
            <a:off x="8869680" y="2834640"/>
            <a:ext cx="201168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9" name="adim-kart-3"/>
          <p:cNvSpPr/>
          <p:nvPr/>
        </p:nvSpPr>
        <p:spPr>
          <a:xfrm>
            <a:off x="9189720" y="1874520"/>
            <a:ext cx="2450592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adim-no-3"/>
          <p:cNvSpPr txBox="1"/>
          <p:nvPr/>
        </p:nvSpPr>
        <p:spPr>
          <a:xfrm>
            <a:off x="9464040" y="214884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adim-baslik-3"/>
          <p:cNvSpPr txBox="1"/>
          <p:nvPr/>
        </p:nvSpPr>
        <p:spPr>
          <a:xfrm>
            <a:off x="9464040" y="281635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Karar</a:t>
            </a:r>
            <a:endParaRPr lang="en-US" sz="2200" dirty="0"/>
          </a:p>
        </p:txBody>
      </p:sp>
      <p:sp>
        <p:nvSpPr>
          <p:cNvPr id="22" name="adim-metin-3"/>
          <p:cNvSpPr txBox="1"/>
          <p:nvPr/>
        </p:nvSpPr>
        <p:spPr>
          <a:xfrm>
            <a:off x="9464040" y="32735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Teklif seçimi, süre, risk</a:t>
            </a:r>
            <a:endParaRPr lang="en-US" sz="1500" dirty="0"/>
          </a:p>
        </p:txBody>
      </p:sp>
      <p:sp>
        <p:nvSpPr>
          <p:cNvPr id="23" name="arac-etiket-0"/>
          <p:cNvSpPr txBox="1"/>
          <p:nvPr/>
        </p:nvSpPr>
        <p:spPr>
          <a:xfrm>
            <a:off x="548640" y="452628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24" name="arac-metin-0"/>
          <p:cNvSpPr txBox="1"/>
          <p:nvPr/>
        </p:nvSpPr>
        <p:spPr>
          <a:xfrm>
            <a:off x="1783080" y="44622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Modelin görünür hali: her hücre bir varsayımı, her formül bir ilişkiyi taşır.</a:t>
            </a:r>
            <a:endParaRPr lang="en-US" sz="1600" dirty="0"/>
          </a:p>
        </p:txBody>
      </p:sp>
      <p:sp>
        <p:nvSpPr>
          <p:cNvPr id="25" name="arac-etiket-1"/>
          <p:cNvSpPr txBox="1"/>
          <p:nvPr/>
        </p:nvSpPr>
        <p:spPr>
          <a:xfrm>
            <a:off x="6233465" y="452628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Python</a:t>
            </a:r>
            <a:endParaRPr lang="en-US" sz="1100" dirty="0"/>
          </a:p>
        </p:txBody>
      </p:sp>
      <p:sp>
        <p:nvSpPr>
          <p:cNvPr id="26" name="arac-metin-1"/>
          <p:cNvSpPr txBox="1"/>
          <p:nvPr/>
        </p:nvSpPr>
        <p:spPr>
          <a:xfrm>
            <a:off x="7467905" y="44622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Ölçek, tekrar ve otomasyon: tek senaryo yerine 1.000 senaryo, 3 yıl yerine 20 yıllık veri.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Vaka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Haftanın vakası</a:t>
            </a:r>
            <a:endParaRPr lang="en-US" sz="3400" dirty="0"/>
          </a:p>
        </p:txBody>
      </p:sp>
      <p:sp>
        <p:nvSpPr>
          <p:cNvPr id="4" name="vaka-kart"/>
          <p:cNvSpPr/>
          <p:nvPr/>
        </p:nvSpPr>
        <p:spPr>
          <a:xfrm>
            <a:off x="548640" y="1828800"/>
            <a:ext cx="11094415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vaka-soru"/>
          <p:cNvSpPr txBox="1"/>
          <p:nvPr/>
        </p:nvSpPr>
        <p:spPr>
          <a:xfrm>
            <a:off x="1005840" y="182880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Vaka sorusu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Aynı yıllık %40 ile üç farklı sonuç: faiz türü neden önemlidir?</a:t>
            </a:r>
            <a:endParaRPr lang="en-US" sz="1400" dirty="0"/>
          </a:p>
        </p:txBody>
      </p:sp>
      <p:sp>
        <p:nvSpPr>
          <p:cNvPr id="6" name="info-hucre-0"/>
          <p:cNvSpPr txBox="1"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info-etiket-0"/>
          <p:cNvSpPr txBox="1"/>
          <p:nvPr/>
        </p:nvSpPr>
        <p:spPr>
          <a:xfrm>
            <a:off x="804672" y="4142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Girdi</a:t>
            </a:r>
            <a:endParaRPr lang="en-US" sz="1300" dirty="0"/>
          </a:p>
        </p:txBody>
      </p:sp>
      <p:sp>
        <p:nvSpPr>
          <p:cNvPr id="8" name="info-baslik-0"/>
          <p:cNvSpPr txBox="1"/>
          <p:nvPr/>
        </p:nvSpPr>
        <p:spPr>
          <a:xfrm>
            <a:off x="54864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100.000 TL · yıllık %40 · 3 yıl</a:t>
            </a:r>
            <a:endParaRPr lang="en-US" sz="2000" dirty="0"/>
          </a:p>
        </p:txBody>
      </p:sp>
      <p:sp>
        <p:nvSpPr>
          <p:cNvPr id="9" name="info-hucre-1"/>
          <p:cNvSpPr txBox="1"/>
          <p:nvPr/>
        </p:nvSpPr>
        <p:spPr>
          <a:xfrm>
            <a:off x="4307738" y="4224528"/>
            <a:ext cx="146304" cy="14630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0" name="info-etiket-1"/>
          <p:cNvSpPr txBox="1"/>
          <p:nvPr/>
        </p:nvSpPr>
        <p:spPr>
          <a:xfrm>
            <a:off x="4563770" y="4142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Excel</a:t>
            </a:r>
            <a:endParaRPr lang="en-US" sz="1300" dirty="0"/>
          </a:p>
        </p:txBody>
      </p:sp>
      <p:sp>
        <p:nvSpPr>
          <p:cNvPr id="11" name="info-baslik-1"/>
          <p:cNvSpPr txBox="1"/>
          <p:nvPr/>
        </p:nvSpPr>
        <p:spPr>
          <a:xfrm>
            <a:off x="4307738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Faiz sayfası</a:t>
            </a:r>
            <a:endParaRPr lang="en-US" sz="2000" dirty="0"/>
          </a:p>
        </p:txBody>
      </p:sp>
      <p:sp>
        <p:nvSpPr>
          <p:cNvPr id="12" name="info-hucre-2"/>
          <p:cNvSpPr txBox="1"/>
          <p:nvPr/>
        </p:nvSpPr>
        <p:spPr>
          <a:xfrm>
            <a:off x="8066837" y="4224528"/>
            <a:ext cx="146304" cy="14630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3" name="info-etiket-2"/>
          <p:cNvSpPr txBox="1"/>
          <p:nvPr/>
        </p:nvSpPr>
        <p:spPr>
          <a:xfrm>
            <a:off x="8322869" y="4142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Python</a:t>
            </a:r>
            <a:endParaRPr lang="en-US" sz="1300" dirty="0"/>
          </a:p>
        </p:txBody>
      </p:sp>
      <p:sp>
        <p:nvSpPr>
          <p:cNvPr id="14" name="info-baslik-2"/>
          <p:cNvSpPr txBox="1"/>
          <p:nvPr/>
        </p:nvSpPr>
        <p:spPr>
          <a:xfrm>
            <a:off x="8066837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Colab defteri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Vaka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Vakanın üç sonucu</a:t>
            </a:r>
            <a:endParaRPr lang="en-US" sz="3400" dirty="0"/>
          </a:p>
        </p:txBody>
      </p:sp>
      <p:sp>
        <p:nvSpPr>
          <p:cNvPr id="4" name="sayi-kart-0"/>
          <p:cNvSpPr/>
          <p:nvPr/>
        </p:nvSpPr>
        <p:spPr>
          <a:xfrm>
            <a:off x="548640" y="1874520"/>
            <a:ext cx="3576218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ayi-etiket-0"/>
          <p:cNvSpPr txBox="1"/>
          <p:nvPr/>
        </p:nvSpPr>
        <p:spPr>
          <a:xfrm>
            <a:off x="868680" y="2148840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Basit faiz</a:t>
            </a:r>
            <a:endParaRPr lang="en-US" sz="1300" dirty="0"/>
          </a:p>
        </p:txBody>
      </p:sp>
      <p:sp>
        <p:nvSpPr>
          <p:cNvPr id="6" name="sayi-0"/>
          <p:cNvSpPr txBox="1"/>
          <p:nvPr/>
        </p:nvSpPr>
        <p:spPr>
          <a:xfrm>
            <a:off x="868680" y="26060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220.000</a:t>
            </a:r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 TL</a:t>
            </a:r>
            <a:endParaRPr lang="en-US" sz="4400" dirty="0"/>
          </a:p>
        </p:txBody>
      </p:sp>
      <p:sp>
        <p:nvSpPr>
          <p:cNvPr id="7" name="sayi-formul-0"/>
          <p:cNvSpPr txBox="1"/>
          <p:nvPr/>
        </p:nvSpPr>
        <p:spPr>
          <a:xfrm>
            <a:off x="868680" y="38404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× (1 + r × n)</a:t>
            </a:r>
            <a:endParaRPr lang="en-US" sz="1500" dirty="0"/>
          </a:p>
        </p:txBody>
      </p:sp>
      <p:sp>
        <p:nvSpPr>
          <p:cNvPr id="8" name="sayi-kart-1"/>
          <p:cNvSpPr/>
          <p:nvPr/>
        </p:nvSpPr>
        <p:spPr>
          <a:xfrm>
            <a:off x="4307738" y="1874520"/>
            <a:ext cx="3576218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ayi-etiket-1"/>
          <p:cNvSpPr txBox="1"/>
          <p:nvPr/>
        </p:nvSpPr>
        <p:spPr>
          <a:xfrm>
            <a:off x="4627778" y="2148840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Yıllık bileşik faiz</a:t>
            </a:r>
            <a:endParaRPr lang="en-US" sz="1300" dirty="0"/>
          </a:p>
        </p:txBody>
      </p:sp>
      <p:sp>
        <p:nvSpPr>
          <p:cNvPr id="10" name="sayi-1"/>
          <p:cNvSpPr txBox="1"/>
          <p:nvPr/>
        </p:nvSpPr>
        <p:spPr>
          <a:xfrm>
            <a:off x="4627778" y="26060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274.400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TL</a:t>
            </a:r>
            <a:endParaRPr lang="en-US" sz="4400" dirty="0"/>
          </a:p>
        </p:txBody>
      </p:sp>
      <p:sp>
        <p:nvSpPr>
          <p:cNvPr id="11" name="sayi-formul-1"/>
          <p:cNvSpPr txBox="1"/>
          <p:nvPr/>
        </p:nvSpPr>
        <p:spPr>
          <a:xfrm>
            <a:off x="4627778" y="38404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× (1 + r)^n</a:t>
            </a:r>
            <a:endParaRPr lang="en-US" sz="1500" dirty="0"/>
          </a:p>
        </p:txBody>
      </p:sp>
      <p:sp>
        <p:nvSpPr>
          <p:cNvPr id="12" name="sayi-fark-1"/>
          <p:cNvSpPr txBox="1"/>
          <p:nvPr/>
        </p:nvSpPr>
        <p:spPr>
          <a:xfrm>
            <a:off x="4627778" y="43891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Basit faize göre +54.400 TL</a:t>
            </a:r>
            <a:endParaRPr lang="en-US" sz="1400" dirty="0"/>
          </a:p>
        </p:txBody>
      </p:sp>
      <p:sp>
        <p:nvSpPr>
          <p:cNvPr id="13" name="sayi-kart-2"/>
          <p:cNvSpPr/>
          <p:nvPr/>
        </p:nvSpPr>
        <p:spPr>
          <a:xfrm>
            <a:off x="8066837" y="1874520"/>
            <a:ext cx="3576218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ayi-etiket-2"/>
          <p:cNvSpPr txBox="1"/>
          <p:nvPr/>
        </p:nvSpPr>
        <p:spPr>
          <a:xfrm>
            <a:off x="8386877" y="2148840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Aylık bileşik faiz</a:t>
            </a:r>
            <a:endParaRPr lang="en-US" sz="1300" dirty="0"/>
          </a:p>
        </p:txBody>
      </p:sp>
      <p:sp>
        <p:nvSpPr>
          <p:cNvPr id="15" name="sayi-2"/>
          <p:cNvSpPr txBox="1"/>
          <p:nvPr/>
        </p:nvSpPr>
        <p:spPr>
          <a:xfrm>
            <a:off x="8386877" y="26060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325.578,57</a:t>
            </a:r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 TL</a:t>
            </a:r>
            <a:endParaRPr lang="en-US" sz="4400" dirty="0"/>
          </a:p>
        </p:txBody>
      </p:sp>
      <p:sp>
        <p:nvSpPr>
          <p:cNvPr id="16" name="sayi-formul-2"/>
          <p:cNvSpPr txBox="1"/>
          <p:nvPr/>
        </p:nvSpPr>
        <p:spPr>
          <a:xfrm>
            <a:off x="8386877" y="38404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× (1 + r/12)^(12 × n)</a:t>
            </a:r>
            <a:endParaRPr lang="en-US" sz="1500" dirty="0"/>
          </a:p>
        </p:txBody>
      </p:sp>
      <p:sp>
        <p:nvSpPr>
          <p:cNvPr id="17" name="sayi-fark-2"/>
          <p:cNvSpPr txBox="1"/>
          <p:nvPr/>
        </p:nvSpPr>
        <p:spPr>
          <a:xfrm>
            <a:off x="8386877" y="43891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Yıllık bileşiğe göre +51.178,57 TL</a:t>
            </a:r>
            <a:endParaRPr lang="en-US" sz="1400" dirty="0"/>
          </a:p>
        </p:txBody>
      </p:sp>
      <p:sp>
        <p:nvSpPr>
          <p:cNvPr id="18" name="alt-not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 = 100.000 TL, r = yıllık %40, n = 3 yıl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Faiz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Faizin tanımı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Faiz, paranın bir dönem kullanılmasının bedelidir. Bu nedenle paranın kirası olarak da adlandırılır.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Mevduatta faizi banka öder. Kredide faizi borçlu öder.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Bugünkü 1 TL, gelecekteki 1 TL'den değerlidir. Bu farka paranın zaman değeri denir.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Her faiz oranı bir döneme bağlıdır: yıllık %40 ile aylık %3 aynı oran değildir.</a:t>
            </a:r>
            <a:endParaRPr lang="en-US" sz="18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8028432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Bir oranın üç özelliği</a:t>
            </a:r>
            <a:endParaRPr lang="en-US" sz="1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8028432" y="25603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Dönem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Yıllık, aylık ya da günlük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İşleyiş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Basit ya da bileşik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Sıklık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Faizin yılda kaç kez anaparaya eklendiği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Faiz dili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Yüzde, yüzde puan ve baz puan</a:t>
            </a:r>
            <a:endParaRPr lang="en-US" sz="3400" dirty="0"/>
          </a:p>
        </p:txBody>
      </p:sp>
      <p:sp>
        <p:nvSpPr>
          <p:cNvPr id="4" name="ppk-kart"/>
          <p:cNvSpPr/>
          <p:nvPr/>
        </p:nvSpPr>
        <p:spPr>
          <a:xfrm>
            <a:off x="548640" y="1874520"/>
            <a:ext cx="4206240" cy="3566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ppk-etiket"/>
          <p:cNvSpPr txBox="1"/>
          <p:nvPr/>
        </p:nvSpPr>
        <p:spPr>
          <a:xfrm>
            <a:off x="91440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Politika faizi, 22.01.2026 [1]</a:t>
            </a:r>
            <a:endParaRPr lang="en-US" sz="1300" dirty="0"/>
          </a:p>
        </p:txBody>
      </p:sp>
      <p:sp>
        <p:nvSpPr>
          <p:cNvPr id="6" name="ppk-sayi"/>
          <p:cNvSpPr txBox="1"/>
          <p:nvPr/>
        </p:nvSpPr>
        <p:spPr>
          <a:xfrm>
            <a:off x="914400" y="2697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%38 → %37</a:t>
            </a:r>
            <a:endParaRPr lang="en-US" sz="5000" dirty="0"/>
          </a:p>
        </p:txBody>
      </p:sp>
      <p:sp>
        <p:nvSpPr>
          <p:cNvPr id="7" name="ppk-not"/>
          <p:cNvSpPr txBox="1"/>
          <p:nvPr/>
        </p:nvSpPr>
        <p:spPr>
          <a:xfrm>
            <a:off x="914400" y="4023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Haberdeki “faiz %1 düştü” ifadesi iki ayrı okumaya açıktır: 1 puan ya da %1.</a:t>
            </a:r>
            <a:endParaRPr lang="en-US" sz="1700" dirty="0"/>
          </a:p>
        </p:txBody>
      </p:sp>
      <p:sp>
        <p:nvSpPr>
          <p:cNvPr id="8" name="okuma-sayi-0"/>
          <p:cNvSpPr txBox="1"/>
          <p:nvPr/>
        </p:nvSpPr>
        <p:spPr>
          <a:xfrm>
            <a:off x="516636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−1</a:t>
            </a:r>
            <a:endParaRPr lang="en-US" sz="4000" dirty="0"/>
          </a:p>
        </p:txBody>
      </p:sp>
      <p:sp>
        <p:nvSpPr>
          <p:cNvPr id="9" name="okuma-metin-0"/>
          <p:cNvSpPr txBox="1"/>
          <p:nvPr/>
        </p:nvSpPr>
        <p:spPr>
          <a:xfrm>
            <a:off x="7635240" y="1874520"/>
            <a:ext cx="4005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yüzde puan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İki oranın farkı: 37 − 38</a:t>
            </a:r>
            <a:endParaRPr lang="en-US" sz="2000" dirty="0"/>
          </a:p>
        </p:txBody>
      </p:sp>
      <p:sp>
        <p:nvSpPr>
          <p:cNvPr id="10" name="okuma-sayi-1"/>
          <p:cNvSpPr txBox="1"/>
          <p:nvPr/>
        </p:nvSpPr>
        <p:spPr>
          <a:xfrm>
            <a:off x="516636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−100</a:t>
            </a:r>
            <a:endParaRPr lang="en-US" sz="4000" dirty="0"/>
          </a:p>
        </p:txBody>
      </p:sp>
      <p:sp>
        <p:nvSpPr>
          <p:cNvPr id="11" name="okuma-metin-1"/>
          <p:cNvSpPr txBox="1"/>
          <p:nvPr/>
        </p:nvSpPr>
        <p:spPr>
          <a:xfrm>
            <a:off x="7635240" y="3108960"/>
            <a:ext cx="4005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baz puan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1 yüzde puan = 100 baz puan</a:t>
            </a:r>
            <a:endParaRPr lang="en-US" sz="2000" dirty="0"/>
          </a:p>
        </p:txBody>
      </p:sp>
      <p:sp>
        <p:nvSpPr>
          <p:cNvPr id="12" name="okuma-sayi-2"/>
          <p:cNvSpPr txBox="1"/>
          <p:nvPr/>
        </p:nvSpPr>
        <p:spPr>
          <a:xfrm>
            <a:off x="5166360" y="4343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−%2,63</a:t>
            </a:r>
            <a:endParaRPr lang="en-US" sz="4000" dirty="0"/>
          </a:p>
        </p:txBody>
      </p:sp>
      <p:sp>
        <p:nvSpPr>
          <p:cNvPr id="13" name="okuma-metin-2"/>
          <p:cNvSpPr txBox="1"/>
          <p:nvPr/>
        </p:nvSpPr>
        <p:spPr>
          <a:xfrm>
            <a:off x="7635240" y="4343400"/>
            <a:ext cx="4005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oransal değişim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37 / 38 − 1; taban eski değerdir</a:t>
            </a:r>
            <a:endParaRPr lang="en-US" sz="2000" dirty="0"/>
          </a:p>
        </p:txBody>
      </p:sp>
      <p:sp>
        <p:nvSpPr>
          <p:cNvPr id="14" name="alt-not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Excel (A1 = 0,38, A2 = 0,37): puan =(A2-A1)*100 · baz puan =(A2-A1)*10000 · oransal değişim =A2/A1-1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Faiz dili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Piyasadaki faiz adları</a:t>
            </a:r>
            <a:endParaRPr lang="en-US" sz="3400" dirty="0"/>
          </a:p>
        </p:txBody>
      </p:sp>
      <p:sp>
        <p:nvSpPr>
          <p:cNvPr id="4" name="ad-kart-0"/>
          <p:cNvSpPr/>
          <p:nvPr/>
        </p:nvSpPr>
        <p:spPr>
          <a:xfrm>
            <a:off x="548640" y="1874520"/>
            <a:ext cx="357621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ad-hucre-0"/>
          <p:cNvSpPr txBox="1"/>
          <p:nvPr/>
        </p:nvSpPr>
        <p:spPr>
          <a:xfrm>
            <a:off x="822960" y="2258568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6" name="ad-baslik-0"/>
          <p:cNvSpPr txBox="1"/>
          <p:nvPr/>
        </p:nvSpPr>
        <p:spPr>
          <a:xfrm>
            <a:off x="1078992" y="2148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Politika faizi</a:t>
            </a:r>
            <a:endParaRPr lang="en-US" sz="1800" dirty="0"/>
          </a:p>
        </p:txBody>
      </p:sp>
      <p:sp>
        <p:nvSpPr>
          <p:cNvPr id="7" name="ad-metin-0"/>
          <p:cNvSpPr txBox="1"/>
          <p:nvPr/>
        </p:nvSpPr>
        <p:spPr>
          <a:xfrm>
            <a:off x="822960" y="2624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TCMB'nin bir hafta vadeli repo ihale faiz oranı. 10.09.2026 kararıyla %37 [2].</a:t>
            </a:r>
            <a:endParaRPr lang="en-US" sz="1400" dirty="0"/>
          </a:p>
        </p:txBody>
      </p:sp>
      <p:sp>
        <p:nvSpPr>
          <p:cNvPr id="8" name="ad-kart-1"/>
          <p:cNvSpPr/>
          <p:nvPr/>
        </p:nvSpPr>
        <p:spPr>
          <a:xfrm>
            <a:off x="4307738" y="1874520"/>
            <a:ext cx="357621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ad-hucre-1"/>
          <p:cNvSpPr txBox="1"/>
          <p:nvPr/>
        </p:nvSpPr>
        <p:spPr>
          <a:xfrm>
            <a:off x="4582058" y="2258568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0" name="ad-baslik-1"/>
          <p:cNvSpPr txBox="1"/>
          <p:nvPr/>
        </p:nvSpPr>
        <p:spPr>
          <a:xfrm>
            <a:off x="4838090" y="2148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Mevduat faizi</a:t>
            </a:r>
            <a:endParaRPr lang="en-US" sz="1800" dirty="0"/>
          </a:p>
        </p:txBody>
      </p:sp>
      <p:sp>
        <p:nvSpPr>
          <p:cNvPr id="11" name="ad-metin-1"/>
          <p:cNvSpPr txBox="1"/>
          <p:nvPr/>
        </p:nvSpPr>
        <p:spPr>
          <a:xfrm>
            <a:off x="4582058" y="2624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Bankanın mevduat sahibine ödediği faiz. Oranı banka belirler.</a:t>
            </a:r>
            <a:endParaRPr lang="en-US" sz="1400" dirty="0"/>
          </a:p>
        </p:txBody>
      </p:sp>
      <p:sp>
        <p:nvSpPr>
          <p:cNvPr id="12" name="ad-kart-2"/>
          <p:cNvSpPr/>
          <p:nvPr/>
        </p:nvSpPr>
        <p:spPr>
          <a:xfrm>
            <a:off x="8066837" y="1874520"/>
            <a:ext cx="357621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ad-hucre-2"/>
          <p:cNvSpPr txBox="1"/>
          <p:nvPr/>
        </p:nvSpPr>
        <p:spPr>
          <a:xfrm>
            <a:off x="8341157" y="2258568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4" name="ad-baslik-2"/>
          <p:cNvSpPr txBox="1"/>
          <p:nvPr/>
        </p:nvSpPr>
        <p:spPr>
          <a:xfrm>
            <a:off x="8597189" y="2148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Kredi faizi (akdi faiz)</a:t>
            </a:r>
            <a:endParaRPr lang="en-US" sz="1800" dirty="0"/>
          </a:p>
        </p:txBody>
      </p:sp>
      <p:sp>
        <p:nvSpPr>
          <p:cNvPr id="15" name="ad-metin-2"/>
          <p:cNvSpPr txBox="1"/>
          <p:nvPr/>
        </p:nvSpPr>
        <p:spPr>
          <a:xfrm>
            <a:off x="8341157" y="2624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Kredi sözleşmesinde yazan faiz oranı.</a:t>
            </a:r>
            <a:endParaRPr lang="en-US" sz="1400" dirty="0"/>
          </a:p>
        </p:txBody>
      </p:sp>
      <p:sp>
        <p:nvSpPr>
          <p:cNvPr id="16" name="ad-kart-3"/>
          <p:cNvSpPr/>
          <p:nvPr/>
        </p:nvSpPr>
        <p:spPr>
          <a:xfrm>
            <a:off x="548640" y="3794760"/>
            <a:ext cx="357621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ad-hucre-3"/>
          <p:cNvSpPr txBox="1"/>
          <p:nvPr/>
        </p:nvSpPr>
        <p:spPr>
          <a:xfrm>
            <a:off x="822960" y="4178808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8" name="ad-baslik-3"/>
          <p:cNvSpPr txBox="1"/>
          <p:nvPr/>
        </p:nvSpPr>
        <p:spPr>
          <a:xfrm>
            <a:off x="1078992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EYFO</a:t>
            </a:r>
            <a:endParaRPr lang="en-US" sz="1800" dirty="0"/>
          </a:p>
        </p:txBody>
      </p:sp>
      <p:sp>
        <p:nvSpPr>
          <p:cNvPr id="19" name="ad-metin-3"/>
          <p:cNvSpPr txBox="1"/>
          <p:nvPr/>
        </p:nvSpPr>
        <p:spPr>
          <a:xfrm>
            <a:off x="822960" y="45445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Efektif yıllık faiz oranı: akdi faiz, vergi ve ücretleri içeren yıllık toplam maliyet.</a:t>
            </a:r>
            <a:endParaRPr lang="en-US" sz="1400" dirty="0"/>
          </a:p>
        </p:txBody>
      </p:sp>
      <p:sp>
        <p:nvSpPr>
          <p:cNvPr id="20" name="ad-kart-4"/>
          <p:cNvSpPr/>
          <p:nvPr/>
        </p:nvSpPr>
        <p:spPr>
          <a:xfrm>
            <a:off x="4307738" y="3794760"/>
            <a:ext cx="357621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ad-hucre-4"/>
          <p:cNvSpPr txBox="1"/>
          <p:nvPr/>
        </p:nvSpPr>
        <p:spPr>
          <a:xfrm>
            <a:off x="4582058" y="4178808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2" name="ad-baslik-4"/>
          <p:cNvSpPr txBox="1"/>
          <p:nvPr/>
        </p:nvSpPr>
        <p:spPr>
          <a:xfrm>
            <a:off x="483809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Sabit ve değişken faiz</a:t>
            </a:r>
            <a:endParaRPr lang="en-US" sz="1800" dirty="0"/>
          </a:p>
        </p:txBody>
      </p:sp>
      <p:sp>
        <p:nvSpPr>
          <p:cNvPr id="23" name="ad-metin-4"/>
          <p:cNvSpPr txBox="1"/>
          <p:nvPr/>
        </p:nvSpPr>
        <p:spPr>
          <a:xfrm>
            <a:off x="4582058" y="45445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Sabit faiz vade boyunca değişmez. Değişken faiz bir referans orana bağlıdır.</a:t>
            </a:r>
            <a:endParaRPr lang="en-US" sz="1400" dirty="0"/>
          </a:p>
        </p:txBody>
      </p:sp>
      <p:sp>
        <p:nvSpPr>
          <p:cNvPr id="24" name="ad-kart-5"/>
          <p:cNvSpPr/>
          <p:nvPr/>
        </p:nvSpPr>
        <p:spPr>
          <a:xfrm>
            <a:off x="8066837" y="3794760"/>
            <a:ext cx="357621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d-hucre-5"/>
          <p:cNvSpPr txBox="1"/>
          <p:nvPr/>
        </p:nvSpPr>
        <p:spPr>
          <a:xfrm>
            <a:off x="8341157" y="4178808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6" name="ad-baslik-5"/>
          <p:cNvSpPr txBox="1"/>
          <p:nvPr/>
        </p:nvSpPr>
        <p:spPr>
          <a:xfrm>
            <a:off x="8597189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İskonto oranı</a:t>
            </a:r>
            <a:endParaRPr lang="en-US" sz="1800" dirty="0"/>
          </a:p>
        </p:txBody>
      </p:sp>
      <p:sp>
        <p:nvSpPr>
          <p:cNvPr id="27" name="ad-metin-5"/>
          <p:cNvSpPr txBox="1"/>
          <p:nvPr/>
        </p:nvSpPr>
        <p:spPr>
          <a:xfrm>
            <a:off x="8341157" y="45445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Gelecekteki tutarı bugüne taşırken kullanılan oran.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Faiz türleri ve teknik hesaplar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Faiz türleri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Dört faiz türü</a:t>
            </a:r>
            <a:endParaRPr lang="en-US" sz="3400" dirty="0"/>
          </a:p>
        </p:txBody>
      </p:sp>
      <p:sp>
        <p:nvSpPr>
          <p:cNvPr id="4" name="girdi-0"/>
          <p:cNvSpPr txBox="1"/>
          <p:nvPr/>
        </p:nvSpPr>
        <p:spPr>
          <a:xfrm>
            <a:off x="548640" y="1828800"/>
            <a:ext cx="219456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100.000 TL</a:t>
            </a:r>
            <a:endParaRPr lang="en-US" sz="1500" dirty="0"/>
          </a:p>
        </p:txBody>
      </p:sp>
      <p:sp>
        <p:nvSpPr>
          <p:cNvPr id="5" name="girdi-1"/>
          <p:cNvSpPr txBox="1"/>
          <p:nvPr/>
        </p:nvSpPr>
        <p:spPr>
          <a:xfrm>
            <a:off x="2926080" y="1828800"/>
            <a:ext cx="219456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%40</a:t>
            </a:r>
            <a:endParaRPr lang="en-US" sz="1500" dirty="0"/>
          </a:p>
        </p:txBody>
      </p:sp>
      <p:sp>
        <p:nvSpPr>
          <p:cNvPr id="6" name="girdi-2"/>
          <p:cNvSpPr txBox="1"/>
          <p:nvPr/>
        </p:nvSpPr>
        <p:spPr>
          <a:xfrm>
            <a:off x="5303520" y="1828800"/>
            <a:ext cx="219456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3 yıl</a:t>
            </a:r>
            <a:endParaRPr lang="en-US" sz="1500" dirty="0"/>
          </a:p>
        </p:txBody>
      </p:sp>
      <p:sp>
        <p:nvSpPr>
          <p:cNvPr id="7" name="girdi-3"/>
          <p:cNvSpPr txBox="1"/>
          <p:nvPr/>
        </p:nvSpPr>
        <p:spPr>
          <a:xfrm>
            <a:off x="7680960" y="1828800"/>
            <a:ext cx="219456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12 dönem</a:t>
            </a:r>
            <a:endParaRPr lang="en-US" sz="1500" dirty="0"/>
          </a:p>
        </p:txBody>
      </p:sp>
      <p:graphicFrame>
        <p:nvGraphicFramePr>
          <p:cNvPr id="14" name="tur-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474720"/>
                <a:gridCol w="213329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Faiz türü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Formül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Excel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Sonuç (TL)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Basit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× (1 + r ×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=B1*(1+B2*B3)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220.000,00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Yıllık bileşik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× (1 + r)^n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=FV(B2,B3,0,-B1)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274.400,00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Yılda m kez bileşik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× (1 + r/m)^(m ×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=B1*(1+B2/B4)^(B4*B3)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325.578,57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Sürekli bileşik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× e^(r ×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=B1*EXP(B2*B3)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9822B"/>
                          </a:solidFill>
                        </a:rPr>
                        <a:t>332.011,69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alt-not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Yılda m kez bileşik: m = 12. FV'de yatırılan tutar eksi girilir.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Faiz türleri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Faiz türlerine göre bakiye</a:t>
            </a:r>
            <a:endParaRPr lang="en-US" sz="3400" dirty="0"/>
          </a:p>
        </p:txBody>
      </p:sp>
      <p:pic>
        <p:nvPicPr>
          <p:cNvPr id="4" name="Image 0" descr="Basit, yıllık bileşik ve sürekli bileşik faizle 3 yıllık bakiye grafiği">    </p:cNvPr>
          <p:cNvPicPr>
            <a:picLocks noChangeAspect="1"/>
          </p:cNvPicPr>
          <p:nvPr>
            <p:ph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783080"/>
            <a:ext cx="7498080" cy="3998671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4" type="body" hasCustomPrompt="1"/>
          </p:nvPr>
        </p:nvSpPr>
        <p:spPr>
          <a:xfrm>
            <a:off x="8412480" y="1874520"/>
            <a:ext cx="32278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1. yılın sonunda basit ve yıllık bileşik faiz aynı tutarı vermektedir: 140.000 TL.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3. yılın sonundaki 54.400 TL'lik fark faizin faizidir.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Sürekli bileşik faiz üst sınırı oluşturur: 332.011,69 TL.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Ayna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Excel ve Python ile aynı hesap</a:t>
            </a:r>
            <a:endParaRPr lang="en-US" sz="34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Excel</a:t>
            </a:r>
            <a:endParaRPr lang="en-US" sz="18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68680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Elle formül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=B1*(1+B2)^B3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Fonksiyonla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=FV(B2,B3,0,-B1)</a:t>
            </a:r>
            <a:endParaRPr lang="en-US" sz="16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595567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Python</a:t>
            </a:r>
            <a:endParaRPr lang="en-US" sz="18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595567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r, n = 100_000, 0.40, 3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 * (1 + r * n))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220000.00000000003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 * (1 + r) ** n)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274399.99999999994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 * math.exp(r * n))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332011.6922736548</a:t>
            </a:r>
            <a:endParaRPr lang="en-US" sz="16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Python'daki küçük sapmalar kayan nokta gösteriminden gelir. Karşılaştırmada round kullanılır.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Etkin oran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Bileşiklenme sıklığı ve yıllık etkin oran</a:t>
            </a:r>
            <a:endParaRPr lang="en-US" sz="3400" dirty="0"/>
          </a:p>
        </p:txBody>
      </p:sp>
      <p:graphicFrame>
        <p:nvGraphicFramePr>
          <p:cNvPr id="4" name="etkin-grafik" descr=""/>
          <p:cNvGraphicFramePr/>
          <p:nvPr/>
        </p:nvGraphicFramePr>
        <p:xfrm>
          <a:off x="548640" y="1783080"/>
          <a:ext cx="73152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etkin-kart"/>
          <p:cNvSpPr/>
          <p:nvPr/>
        </p:nvSpPr>
        <p:spPr>
          <a:xfrm>
            <a:off x="8257032" y="1783080"/>
            <a:ext cx="3383280" cy="4251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etkin-etiket"/>
          <p:cNvSpPr txBox="1"/>
          <p:nvPr/>
        </p:nvSpPr>
        <p:spPr>
          <a:xfrm>
            <a:off x="8577072" y="2057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Sürekli bileşik sınırı</a:t>
            </a:r>
            <a:endParaRPr lang="en-US" sz="1300" dirty="0"/>
          </a:p>
        </p:txBody>
      </p:sp>
      <p:sp>
        <p:nvSpPr>
          <p:cNvPr id="7" name="etkin-sayi"/>
          <p:cNvSpPr txBox="1"/>
          <p:nvPr/>
        </p:nvSpPr>
        <p:spPr>
          <a:xfrm>
            <a:off x="8577072" y="2468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%49,18</a:t>
            </a:r>
            <a:endParaRPr lang="en-US" sz="5400" dirty="0"/>
          </a:p>
        </p:txBody>
      </p:sp>
      <p:sp>
        <p:nvSpPr>
          <p:cNvPr id="8" name="etkin-formul"/>
          <p:cNvSpPr txBox="1"/>
          <p:nvPr/>
        </p:nvSpPr>
        <p:spPr>
          <a:xfrm>
            <a:off x="8577072" y="35204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Yıllık etkin oran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+ r/m)^m − 1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Excel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=EFFECT(B2,B4)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Sürekli bileşik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=EXP(B2)-1</a:t>
            </a:r>
            <a:endParaRPr lang="en-US" sz="1300" dirty="0"/>
          </a:p>
        </p:txBody>
      </p:sp>
      <p:sp>
        <p:nvSpPr>
          <p:cNvPr id="9" name="alt-not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Yıllık nominal %40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Etkin oran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Nominal ve etkin oran</a:t>
            </a:r>
            <a:endParaRPr lang="en-US" sz="3400" dirty="0"/>
          </a:p>
        </p:txBody>
      </p:sp>
      <p:sp>
        <p:nvSpPr>
          <p:cNvPr id="4" name="oran-kart-0"/>
          <p:cNvSpPr/>
          <p:nvPr/>
        </p:nvSpPr>
        <p:spPr>
          <a:xfrm>
            <a:off x="548640" y="1874520"/>
            <a:ext cx="3392424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oran-etiket-0"/>
          <p:cNvSpPr txBox="1"/>
          <p:nvPr/>
        </p:nvSpPr>
        <p:spPr>
          <a:xfrm>
            <a:off x="86868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Dönem oranı</a:t>
            </a:r>
            <a:endParaRPr lang="en-US" sz="1300" dirty="0"/>
          </a:p>
        </p:txBody>
      </p:sp>
      <p:sp>
        <p:nvSpPr>
          <p:cNvPr id="6" name="oran-sayi-0"/>
          <p:cNvSpPr txBox="1"/>
          <p:nvPr/>
        </p:nvSpPr>
        <p:spPr>
          <a:xfrm>
            <a:off x="868680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Aylık %3</a:t>
            </a:r>
            <a:endParaRPr lang="en-US" sz="4400" dirty="0"/>
          </a:p>
        </p:txBody>
      </p:sp>
      <p:sp>
        <p:nvSpPr>
          <p:cNvPr id="7" name="oran-metin-0"/>
          <p:cNvSpPr txBox="1"/>
          <p:nvPr/>
        </p:nvSpPr>
        <p:spPr>
          <a:xfrm>
            <a:off x="86868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oran-ok-0"/>
          <p:cNvSpPr/>
          <p:nvPr/>
        </p:nvSpPr>
        <p:spPr>
          <a:xfrm>
            <a:off x="4069080" y="2852928"/>
            <a:ext cx="201168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9" name="oran-kart-1"/>
          <p:cNvSpPr/>
          <p:nvPr/>
        </p:nvSpPr>
        <p:spPr>
          <a:xfrm>
            <a:off x="4398264" y="1874520"/>
            <a:ext cx="3392424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oran-etiket-1"/>
          <p:cNvSpPr txBox="1"/>
          <p:nvPr/>
        </p:nvSpPr>
        <p:spPr>
          <a:xfrm>
            <a:off x="4718304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Yıllık nominal</a:t>
            </a:r>
            <a:endParaRPr lang="en-US" sz="1300" dirty="0"/>
          </a:p>
        </p:txBody>
      </p:sp>
      <p:sp>
        <p:nvSpPr>
          <p:cNvPr id="11" name="oran-sayi-1"/>
          <p:cNvSpPr txBox="1"/>
          <p:nvPr/>
        </p:nvSpPr>
        <p:spPr>
          <a:xfrm>
            <a:off x="4718304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%36</a:t>
            </a:r>
            <a:endParaRPr lang="en-US" sz="4400" dirty="0"/>
          </a:p>
        </p:txBody>
      </p:sp>
      <p:sp>
        <p:nvSpPr>
          <p:cNvPr id="12" name="oran-metin-1"/>
          <p:cNvSpPr txBox="1"/>
          <p:nvPr/>
        </p:nvSpPr>
        <p:spPr>
          <a:xfrm>
            <a:off x="4718304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3 × 12</a:t>
            </a:r>
            <a:endParaRPr lang="en-US" sz="1500" dirty="0"/>
          </a:p>
        </p:txBody>
      </p:sp>
      <p:sp>
        <p:nvSpPr>
          <p:cNvPr id="13" name="oran-ok-1"/>
          <p:cNvSpPr/>
          <p:nvPr/>
        </p:nvSpPr>
        <p:spPr>
          <a:xfrm>
            <a:off x="7918704" y="2852928"/>
            <a:ext cx="201168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4" name="oran-kart-2"/>
          <p:cNvSpPr/>
          <p:nvPr/>
        </p:nvSpPr>
        <p:spPr>
          <a:xfrm>
            <a:off x="8247888" y="1874520"/>
            <a:ext cx="3392424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oran-etiket-2"/>
          <p:cNvSpPr txBox="1"/>
          <p:nvPr/>
        </p:nvSpPr>
        <p:spPr>
          <a:xfrm>
            <a:off x="8567928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Yıllık etkin</a:t>
            </a:r>
            <a:endParaRPr lang="en-US" sz="1300" dirty="0"/>
          </a:p>
        </p:txBody>
      </p:sp>
      <p:sp>
        <p:nvSpPr>
          <p:cNvPr id="16" name="oran-sayi-2"/>
          <p:cNvSpPr txBox="1"/>
          <p:nvPr/>
        </p:nvSpPr>
        <p:spPr>
          <a:xfrm>
            <a:off x="8567928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%42,58</a:t>
            </a:r>
            <a:endParaRPr lang="en-US" sz="4400" dirty="0"/>
          </a:p>
        </p:txBody>
      </p:sp>
      <p:sp>
        <p:nvSpPr>
          <p:cNvPr id="17" name="oran-metin-2"/>
          <p:cNvSpPr txBox="1"/>
          <p:nvPr/>
        </p:nvSpPr>
        <p:spPr>
          <a:xfrm>
            <a:off x="8567928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1,03^12 − 1</a:t>
            </a:r>
            <a:endParaRPr lang="en-US" sz="1500" dirty="0"/>
          </a:p>
        </p:txBody>
      </p:sp>
      <p:graphicFrame>
        <p:nvGraphicFramePr>
          <p:cNvPr id="18" name="oran-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486400"/>
                <a:gridCol w="268193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Yön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Excel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Sonuç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Nominalden etkine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=EFFECT(0.36,12)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%42,58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Etkinden nominale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=NOMINAL(0.4257608868,12)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%36,00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Reel faiz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Reel faiz ve Fisher denklemi</a:t>
            </a:r>
            <a:endParaRPr lang="en-US" sz="3400" dirty="0"/>
          </a:p>
        </p:txBody>
      </p:sp>
      <p:pic>
        <p:nvPicPr>
          <p:cNvPr id="4" name="Image 0" descr="2026 Ocak-Eylül politika faizi ve yıllık TÜFE grafiği">    </p:cNvPr>
          <p:cNvPicPr>
            <a:picLocks noChangeAspect="1"/>
          </p:cNvPicPr>
          <p:nvPr>
            <p:ph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783080"/>
            <a:ext cx="7498080" cy="4311396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4" type="body" hasCustomPrompt="1"/>
          </p:nvPr>
        </p:nvSpPr>
        <p:spPr>
          <a:xfrm>
            <a:off x="8412480" y="1874520"/>
            <a:ext cx="32278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Reel faiz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+ i) / (1 + π) − 1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Eylül 2026: politika faizi %37 [2], yıllık TÜFE %29,73 [3]. Reel faiz 1,37 / 1,2973 − 1 = %5,60.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37 − 29,73 = 7,27 puanlık kısa yol, reel faizi 1,67 puan fazla göstermektedir.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Ağustos 2026 TÜFE'si (%31,51) ile aynı hesap %4,17 vermektedir.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Teknik hesaplar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Bugünkü değer ve ikiye katlanma süresi</a:t>
            </a:r>
            <a:endParaRPr lang="en-US" sz="3400" dirty="0"/>
          </a:p>
        </p:txBody>
      </p:sp>
      <p:sp>
        <p:nvSpPr>
          <p:cNvPr id="4" name="teknik-kart-0"/>
          <p:cNvSpPr/>
          <p:nvPr/>
        </p:nvSpPr>
        <p:spPr>
          <a:xfrm>
            <a:off x="548640" y="1874520"/>
            <a:ext cx="5410505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knik-etiket-0"/>
          <p:cNvSpPr txBox="1"/>
          <p:nvPr/>
        </p:nvSpPr>
        <p:spPr>
          <a:xfrm>
            <a:off x="914400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Bugünkü değer</a:t>
            </a:r>
            <a:endParaRPr lang="en-US" sz="1300" dirty="0"/>
          </a:p>
        </p:txBody>
      </p:sp>
      <p:sp>
        <p:nvSpPr>
          <p:cNvPr id="6" name="teknik-sayi-0"/>
          <p:cNvSpPr txBox="1"/>
          <p:nvPr/>
        </p:nvSpPr>
        <p:spPr>
          <a:xfrm>
            <a:off x="91440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71.428,57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 TL</a:t>
            </a:r>
            <a:endParaRPr lang="en-US" sz="4800" dirty="0"/>
          </a:p>
        </p:txBody>
      </p:sp>
      <p:sp>
        <p:nvSpPr>
          <p:cNvPr id="7" name="teknik-metin-0"/>
          <p:cNvSpPr txBox="1"/>
          <p:nvPr/>
        </p:nvSpPr>
        <p:spPr>
          <a:xfrm>
            <a:off x="914400" y="34747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 yıl sonraki 100.000 TL'nin yıllık %40 ile bugünkü değeri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100.000 / 1,40</a:t>
            </a:r>
            <a:endParaRPr lang="en-US" sz="1500" dirty="0"/>
          </a:p>
        </p:txBody>
      </p:sp>
      <p:sp>
        <p:nvSpPr>
          <p:cNvPr id="8" name="teknik-dil-0-0"/>
          <p:cNvSpPr txBox="1"/>
          <p:nvPr/>
        </p:nvSpPr>
        <p:spPr>
          <a:xfrm>
            <a:off x="914400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Excel</a:t>
            </a:r>
            <a:endParaRPr lang="en-US" sz="1300" dirty="0"/>
          </a:p>
        </p:txBody>
      </p:sp>
      <p:sp>
        <p:nvSpPr>
          <p:cNvPr id="9" name="teknik-formul-0-0"/>
          <p:cNvSpPr txBox="1"/>
          <p:nvPr/>
        </p:nvSpPr>
        <p:spPr>
          <a:xfrm>
            <a:off x="2011680" y="4251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=PV(B2,1,0,-100000)</a:t>
            </a:r>
            <a:endParaRPr lang="en-US" sz="1500" dirty="0"/>
          </a:p>
        </p:txBody>
      </p:sp>
      <p:sp>
        <p:nvSpPr>
          <p:cNvPr id="10" name="teknik-kart-1"/>
          <p:cNvSpPr/>
          <p:nvPr/>
        </p:nvSpPr>
        <p:spPr>
          <a:xfrm>
            <a:off x="6233465" y="1874520"/>
            <a:ext cx="5410505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knik-etiket-1"/>
          <p:cNvSpPr txBox="1"/>
          <p:nvPr/>
        </p:nvSpPr>
        <p:spPr>
          <a:xfrm>
            <a:off x="6599225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İkiye katlanma süresi</a:t>
            </a:r>
            <a:endParaRPr lang="en-US" sz="1300" dirty="0"/>
          </a:p>
        </p:txBody>
      </p:sp>
      <p:sp>
        <p:nvSpPr>
          <p:cNvPr id="12" name="teknik-sayi-1"/>
          <p:cNvSpPr txBox="1"/>
          <p:nvPr/>
        </p:nvSpPr>
        <p:spPr>
          <a:xfrm>
            <a:off x="6599225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2,06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 yıl</a:t>
            </a:r>
            <a:endParaRPr lang="en-US" sz="4800" dirty="0"/>
          </a:p>
        </p:txBody>
      </p:sp>
      <p:sp>
        <p:nvSpPr>
          <p:cNvPr id="13" name="teknik-metin-1"/>
          <p:cNvSpPr txBox="1"/>
          <p:nvPr/>
        </p:nvSpPr>
        <p:spPr>
          <a:xfrm>
            <a:off x="6599225" y="34747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Yıllık %40 ile paranın iki katına çıkma süresi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LN(2) / LN(1 + r)</a:t>
            </a:r>
            <a:endParaRPr lang="en-US" sz="1500" dirty="0"/>
          </a:p>
        </p:txBody>
      </p:sp>
      <p:sp>
        <p:nvSpPr>
          <p:cNvPr id="14" name="teknik-dil-1-0"/>
          <p:cNvSpPr txBox="1"/>
          <p:nvPr/>
        </p:nvSpPr>
        <p:spPr>
          <a:xfrm>
            <a:off x="6599225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Excel</a:t>
            </a:r>
            <a:endParaRPr lang="en-US" sz="1300" dirty="0"/>
          </a:p>
        </p:txBody>
      </p:sp>
      <p:sp>
        <p:nvSpPr>
          <p:cNvPr id="15" name="teknik-formul-1-0"/>
          <p:cNvSpPr txBox="1"/>
          <p:nvPr/>
        </p:nvSpPr>
        <p:spPr>
          <a:xfrm>
            <a:off x="7696505" y="4251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=NPER(B2,0,-1,2)</a:t>
            </a:r>
            <a:endParaRPr lang="en-US" sz="1500" dirty="0"/>
          </a:p>
        </p:txBody>
      </p:sp>
      <p:sp>
        <p:nvSpPr>
          <p:cNvPr id="16" name="teknik-ek-1"/>
          <p:cNvSpPr txBox="1"/>
          <p:nvPr/>
        </p:nvSpPr>
        <p:spPr>
          <a:xfrm>
            <a:off x="6599225" y="5120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72 kuralı: 72 / 40 = 1,80 yıl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Dikkat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Sık hatalar</a:t>
            </a:r>
            <a:endParaRPr lang="en-US" sz="3400" dirty="0"/>
          </a:p>
        </p:txBody>
      </p:sp>
      <p:sp>
        <p:nvSpPr>
          <p:cNvPr id="4" name="hata-kart-0"/>
          <p:cNvSpPr/>
          <p:nvPr/>
        </p:nvSpPr>
        <p:spPr>
          <a:xfrm>
            <a:off x="548640" y="1874520"/>
            <a:ext cx="5410505" cy="1691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hata-isaret-0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6" name="hata-baslik-0"/>
          <p:cNvSpPr txBox="1"/>
          <p:nvPr/>
        </p:nvSpPr>
        <p:spPr>
          <a:xfrm>
            <a:off x="1508760" y="2130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Oranın 40 olarak girilmesi</a:t>
            </a:r>
            <a:endParaRPr lang="en-US" sz="2000" dirty="0"/>
          </a:p>
        </p:txBody>
      </p:sp>
      <p:sp>
        <p:nvSpPr>
          <p:cNvPr id="7" name="hata-metin-0"/>
          <p:cNvSpPr txBox="1"/>
          <p:nvPr/>
        </p:nvSpPr>
        <p:spPr>
          <a:xfrm>
            <a:off x="1508760" y="2651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%40 ile 0,40 aynı değerdir. 40 değeri %4.000 anlamına gelir.</a:t>
            </a:r>
            <a:endParaRPr lang="en-US" sz="1500" dirty="0"/>
          </a:p>
        </p:txBody>
      </p:sp>
      <p:sp>
        <p:nvSpPr>
          <p:cNvPr id="8" name="hata-kart-1"/>
          <p:cNvSpPr/>
          <p:nvPr/>
        </p:nvSpPr>
        <p:spPr>
          <a:xfrm>
            <a:off x="6233465" y="1874520"/>
            <a:ext cx="5410505" cy="1691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hata-isaret-1"/>
          <p:cNvSpPr txBox="1"/>
          <p:nvPr/>
        </p:nvSpPr>
        <p:spPr>
          <a:xfrm>
            <a:off x="6507785" y="2148840"/>
            <a:ext cx="457200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0" name="hata-baslik-1"/>
          <p:cNvSpPr txBox="1"/>
          <p:nvPr/>
        </p:nvSpPr>
        <p:spPr>
          <a:xfrm>
            <a:off x="7193585" y="2130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$ işaretinin unutulması</a:t>
            </a:r>
            <a:endParaRPr lang="en-US" sz="2000" dirty="0"/>
          </a:p>
        </p:txBody>
      </p:sp>
      <p:sp>
        <p:nvSpPr>
          <p:cNvPr id="11" name="hata-metin-1"/>
          <p:cNvSpPr txBox="1"/>
          <p:nvPr/>
        </p:nvSpPr>
        <p:spPr>
          <a:xfrm>
            <a:off x="7193585" y="2651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Formül aşağı kopyalandığında oran hücresi de kayar: B2, B3, B4.</a:t>
            </a:r>
            <a:endParaRPr lang="en-US" sz="1500" dirty="0"/>
          </a:p>
        </p:txBody>
      </p:sp>
      <p:sp>
        <p:nvSpPr>
          <p:cNvPr id="12" name="hata-kart-2"/>
          <p:cNvSpPr/>
          <p:nvPr/>
        </p:nvSpPr>
        <p:spPr>
          <a:xfrm>
            <a:off x="548640" y="3794760"/>
            <a:ext cx="5410505" cy="1691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hata-isaret-2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4" name="hata-baslik-2"/>
          <p:cNvSpPr txBox="1"/>
          <p:nvPr/>
        </p:nvSpPr>
        <p:spPr>
          <a:xfrm>
            <a:off x="1508760" y="4050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Ayıracın karıştırılması</a:t>
            </a:r>
            <a:endParaRPr lang="en-US" sz="2000" dirty="0"/>
          </a:p>
        </p:txBody>
      </p:sp>
      <p:sp>
        <p:nvSpPr>
          <p:cNvPr id="15" name="hata-metin-2"/>
          <p:cNvSpPr txBox="1"/>
          <p:nvPr/>
        </p:nvSpPr>
        <p:spPr>
          <a:xfrm>
            <a:off x="1508760" y="45720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Türkçe bölge ayarı noktalı virgül, İngilizce (ABD) bölge ayarı virgül bekler.</a:t>
            </a:r>
            <a:endParaRPr lang="en-US" sz="1500" dirty="0"/>
          </a:p>
        </p:txBody>
      </p:sp>
      <p:sp>
        <p:nvSpPr>
          <p:cNvPr id="16" name="hata-kart-3"/>
          <p:cNvSpPr/>
          <p:nvPr/>
        </p:nvSpPr>
        <p:spPr>
          <a:xfrm>
            <a:off x="6233465" y="3794760"/>
            <a:ext cx="5410505" cy="1691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hata-isaret-3"/>
          <p:cNvSpPr txBox="1"/>
          <p:nvPr/>
        </p:nvSpPr>
        <p:spPr>
          <a:xfrm>
            <a:off x="6507785" y="4069080"/>
            <a:ext cx="457200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8" name="hata-baslik-3"/>
          <p:cNvSpPr txBox="1"/>
          <p:nvPr/>
        </p:nvSpPr>
        <p:spPr>
          <a:xfrm>
            <a:off x="7193585" y="4050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Reel faizin çıkarmayla bulunması</a:t>
            </a:r>
            <a:endParaRPr lang="en-US" sz="2000" dirty="0"/>
          </a:p>
        </p:txBody>
      </p:sp>
      <p:sp>
        <p:nvSpPr>
          <p:cNvPr id="19" name="hata-metin-3"/>
          <p:cNvSpPr txBox="1"/>
          <p:nvPr/>
        </p:nvSpPr>
        <p:spPr>
          <a:xfrm>
            <a:off x="7193585" y="45720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37 − 29,73 = 7,27 kısa yolu 1,67 puan fazladır. Fisher ile sonuç %5,60'tır.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Uygulama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03 · Uygulama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Uygulama görevleri G1-G4</a:t>
            </a:r>
            <a:endParaRPr lang="en-US" sz="3400" dirty="0"/>
          </a:p>
        </p:txBody>
      </p:sp>
      <p:sp>
        <p:nvSpPr>
          <p:cNvPr id="4" name="gorev-kart-0"/>
          <p:cNvSpPr/>
          <p:nvPr/>
        </p:nvSpPr>
        <p:spPr>
          <a:xfrm>
            <a:off x="548640" y="1874520"/>
            <a:ext cx="5410505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gorev-no-0"/>
          <p:cNvSpPr txBox="1"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G1</a:t>
            </a:r>
            <a:endParaRPr lang="en-US" sz="1800" dirty="0"/>
          </a:p>
        </p:txBody>
      </p:sp>
      <p:sp>
        <p:nvSpPr>
          <p:cNvPr id="6" name="gorev-arac-0"/>
          <p:cNvSpPr txBox="1"/>
          <p:nvPr/>
        </p:nvSpPr>
        <p:spPr>
          <a:xfrm>
            <a:off x="1600200" y="2176272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7" name="gorev-sure-0"/>
          <p:cNvSpPr txBox="1"/>
          <p:nvPr/>
        </p:nvSpPr>
        <p:spPr>
          <a:xfrm>
            <a:off x="2788920" y="21762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 dk</a:t>
            </a:r>
            <a:endParaRPr lang="en-US" sz="1300" dirty="0"/>
          </a:p>
        </p:txBody>
      </p:sp>
      <p:sp>
        <p:nvSpPr>
          <p:cNvPr id="8" name="gorev-baslik-0"/>
          <p:cNvSpPr txBox="1"/>
          <p:nvPr/>
        </p:nvSpPr>
        <p:spPr>
          <a:xfrm>
            <a:off x="1600200" y="25877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Bileşiklenme sıklığı tablosu</a:t>
            </a:r>
            <a:endParaRPr lang="en-US" sz="1900" dirty="0"/>
          </a:p>
        </p:txBody>
      </p:sp>
      <p:sp>
        <p:nvSpPr>
          <p:cNvPr id="9" name="gorev-metin-0"/>
          <p:cNvSpPr txBox="1"/>
          <p:nvPr/>
        </p:nvSpPr>
        <p:spPr>
          <a:xfrm>
            <a:off x="1600200" y="299008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 = 1, 2, 4, 12, 52, 365 ve sürekli bileşik; EFFECT ile sağlama ve logaritmik eksenli grafik</a:t>
            </a:r>
            <a:endParaRPr lang="en-US" sz="1400" dirty="0"/>
          </a:p>
        </p:txBody>
      </p:sp>
      <p:sp>
        <p:nvSpPr>
          <p:cNvPr id="10" name="gorev-kart-1"/>
          <p:cNvSpPr/>
          <p:nvPr/>
        </p:nvSpPr>
        <p:spPr>
          <a:xfrm>
            <a:off x="6233465" y="1874520"/>
            <a:ext cx="5410505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gorev-no-1"/>
          <p:cNvSpPr txBox="1"/>
          <p:nvPr/>
        </p:nvSpPr>
        <p:spPr>
          <a:xfrm>
            <a:off x="6507785" y="2148840"/>
            <a:ext cx="566928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G2</a:t>
            </a:r>
            <a:endParaRPr lang="en-US" sz="1800" dirty="0"/>
          </a:p>
        </p:txBody>
      </p:sp>
      <p:sp>
        <p:nvSpPr>
          <p:cNvPr id="12" name="gorev-arac-1"/>
          <p:cNvSpPr txBox="1"/>
          <p:nvPr/>
        </p:nvSpPr>
        <p:spPr>
          <a:xfrm>
            <a:off x="7285025" y="2176272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13" name="gorev-sure-1"/>
          <p:cNvSpPr txBox="1"/>
          <p:nvPr/>
        </p:nvSpPr>
        <p:spPr>
          <a:xfrm>
            <a:off x="8473745" y="21762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 dk</a:t>
            </a:r>
            <a:endParaRPr lang="en-US" sz="1300" dirty="0"/>
          </a:p>
        </p:txBody>
      </p:sp>
      <p:sp>
        <p:nvSpPr>
          <p:cNvPr id="14" name="gorev-baslik-1"/>
          <p:cNvSpPr txBox="1"/>
          <p:nvPr/>
        </p:nvSpPr>
        <p:spPr>
          <a:xfrm>
            <a:off x="7285025" y="25877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Dört teklif, tek ölçü</a:t>
            </a:r>
            <a:endParaRPr lang="en-US" sz="1900" dirty="0"/>
          </a:p>
        </p:txBody>
      </p:sp>
      <p:sp>
        <p:nvSpPr>
          <p:cNvPr id="15" name="gorev-metin-1"/>
          <p:cNvSpPr txBox="1"/>
          <p:nvPr/>
        </p:nvSpPr>
        <p:spPr>
          <a:xfrm>
            <a:off x="7285025" y="299008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Yıllık etkin orana çevirme, RANK.EQ ile sıralama ve sıralamanın gerekçesi</a:t>
            </a:r>
            <a:endParaRPr lang="en-US" sz="1400" dirty="0"/>
          </a:p>
        </p:txBody>
      </p:sp>
      <p:sp>
        <p:nvSpPr>
          <p:cNvPr id="16" name="gorev-kart-2"/>
          <p:cNvSpPr/>
          <p:nvPr/>
        </p:nvSpPr>
        <p:spPr>
          <a:xfrm>
            <a:off x="548640" y="3840480"/>
            <a:ext cx="5410505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gorev-no-2"/>
          <p:cNvSpPr txBox="1"/>
          <p:nvPr/>
        </p:nvSpPr>
        <p:spPr>
          <a:xfrm>
            <a:off x="822960" y="4114800"/>
            <a:ext cx="566928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G3</a:t>
            </a:r>
            <a:endParaRPr lang="en-US" sz="1800" dirty="0"/>
          </a:p>
        </p:txBody>
      </p:sp>
      <p:sp>
        <p:nvSpPr>
          <p:cNvPr id="18" name="gorev-arac-2"/>
          <p:cNvSpPr txBox="1"/>
          <p:nvPr/>
        </p:nvSpPr>
        <p:spPr>
          <a:xfrm>
            <a:off x="1600200" y="4142232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Python</a:t>
            </a:r>
            <a:endParaRPr lang="en-US" sz="1100" dirty="0"/>
          </a:p>
        </p:txBody>
      </p:sp>
      <p:sp>
        <p:nvSpPr>
          <p:cNvPr id="19" name="gorev-sure-2"/>
          <p:cNvSpPr txBox="1"/>
          <p:nvPr/>
        </p:nvSpPr>
        <p:spPr>
          <a:xfrm>
            <a:off x="2788920" y="4142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 dk</a:t>
            </a:r>
            <a:endParaRPr lang="en-US" sz="1300" dirty="0"/>
          </a:p>
        </p:txBody>
      </p:sp>
      <p:sp>
        <p:nvSpPr>
          <p:cNvPr id="20" name="gorev-baslik-2"/>
          <p:cNvSpPr txBox="1"/>
          <p:nvPr/>
        </p:nvSpPr>
        <p:spPr>
          <a:xfrm>
            <a:off x="1600200" y="45537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Fonksiyon ve döngü</a:t>
            </a:r>
            <a:endParaRPr lang="en-US" sz="1900" dirty="0"/>
          </a:p>
        </p:txBody>
      </p:sp>
      <p:sp>
        <p:nvSpPr>
          <p:cNvPr id="21" name="gorev-metin-2"/>
          <p:cNvSpPr txBox="1"/>
          <p:nvPr/>
        </p:nvSpPr>
        <p:spPr>
          <a:xfrm>
            <a:off x="1600200" y="49560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etkin, surekli, reel ve katlanma_suresi fonksiyonları; 72 kuralının hata tablosu</a:t>
            </a:r>
            <a:endParaRPr lang="en-US" sz="1400" dirty="0"/>
          </a:p>
        </p:txBody>
      </p:sp>
      <p:sp>
        <p:nvSpPr>
          <p:cNvPr id="22" name="gorev-kart-3"/>
          <p:cNvSpPr/>
          <p:nvPr/>
        </p:nvSpPr>
        <p:spPr>
          <a:xfrm>
            <a:off x="6233465" y="3840480"/>
            <a:ext cx="5410505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gorev-no-3"/>
          <p:cNvSpPr txBox="1"/>
          <p:nvPr/>
        </p:nvSpPr>
        <p:spPr>
          <a:xfrm>
            <a:off x="6507785" y="4114800"/>
            <a:ext cx="566928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G4</a:t>
            </a:r>
            <a:endParaRPr lang="en-US" sz="1800" dirty="0"/>
          </a:p>
        </p:txBody>
      </p:sp>
      <p:sp>
        <p:nvSpPr>
          <p:cNvPr id="24" name="gorev-arac-3"/>
          <p:cNvSpPr txBox="1"/>
          <p:nvPr/>
        </p:nvSpPr>
        <p:spPr>
          <a:xfrm>
            <a:off x="7285025" y="4142232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Python</a:t>
            </a:r>
            <a:endParaRPr lang="en-US" sz="1100" dirty="0"/>
          </a:p>
        </p:txBody>
      </p:sp>
      <p:sp>
        <p:nvSpPr>
          <p:cNvPr id="25" name="gorev-sure-3"/>
          <p:cNvSpPr txBox="1"/>
          <p:nvPr/>
        </p:nvSpPr>
        <p:spPr>
          <a:xfrm>
            <a:off x="8473745" y="4142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14 dk</a:t>
            </a:r>
            <a:endParaRPr lang="en-US" sz="1300" dirty="0"/>
          </a:p>
        </p:txBody>
      </p:sp>
      <p:sp>
        <p:nvSpPr>
          <p:cNvPr id="26" name="gorev-baslik-3"/>
          <p:cNvSpPr txBox="1"/>
          <p:nvPr/>
        </p:nvSpPr>
        <p:spPr>
          <a:xfrm>
            <a:off x="7285025" y="45537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Reel politika faizi, 2026</a:t>
            </a:r>
            <a:endParaRPr lang="en-US" sz="1900" dirty="0"/>
          </a:p>
        </p:txBody>
      </p:sp>
      <p:sp>
        <p:nvSpPr>
          <p:cNvPr id="27" name="gorev-metin-3"/>
          <p:cNvSpPr txBox="1"/>
          <p:nvPr/>
        </p:nvSpPr>
        <p:spPr>
          <a:xfrm>
            <a:off x="7285025" y="49560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Ocak-Eylül için Fisher ile seri, çizgi grafiği ve üç cümlelik yorum</a:t>
            </a:r>
            <a:endParaRPr lang="en-US" sz="1400" dirty="0"/>
          </a:p>
        </p:txBody>
      </p:sp>
      <p:sp>
        <p:nvSpPr>
          <p:cNvPr id="28" name="alt-not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G1-G2: Excel, Uygulama sayfası · G3-G4: Colab defteri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03 · Uygulama G2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Dört mevduat teklifi</a:t>
            </a:r>
            <a:endParaRPr lang="en-US" sz="3400" dirty="0"/>
          </a:p>
        </p:txBody>
      </p:sp>
      <p:sp>
        <p:nvSpPr>
          <p:cNvPr id="4" name="teklif-kart-0"/>
          <p:cNvSpPr/>
          <p:nvPr/>
        </p:nvSpPr>
        <p:spPr>
          <a:xfrm>
            <a:off x="548640" y="1874520"/>
            <a:ext cx="2636215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klif-no-0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6" name="teklif-vade-0"/>
          <p:cNvSpPr txBox="1"/>
          <p:nvPr/>
        </p:nvSpPr>
        <p:spPr>
          <a:xfrm>
            <a:off x="822960" y="2834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32 gün vadeli</a:t>
            </a:r>
            <a:endParaRPr lang="en-US" sz="1300" dirty="0"/>
          </a:p>
        </p:txBody>
      </p:sp>
      <p:sp>
        <p:nvSpPr>
          <p:cNvPr id="7" name="teklif-oran-0"/>
          <p:cNvSpPr txBox="1"/>
          <p:nvPr/>
        </p:nvSpPr>
        <p:spPr>
          <a:xfrm>
            <a:off x="82296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Yıllık %40</a:t>
            </a:r>
            <a:endParaRPr lang="en-US" sz="3000" dirty="0"/>
          </a:p>
        </p:txBody>
      </p:sp>
      <p:sp>
        <p:nvSpPr>
          <p:cNvPr id="8" name="teklif-metin-0"/>
          <p:cNvSpPr txBox="1"/>
          <p:nvPr/>
        </p:nvSpPr>
        <p:spPr>
          <a:xfrm>
            <a:off x="82296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Basit: oran × gün / 365</a:t>
            </a:r>
            <a:endParaRPr lang="en-US" sz="1400" dirty="0"/>
          </a:p>
        </p:txBody>
      </p:sp>
      <p:sp>
        <p:nvSpPr>
          <p:cNvPr id="9" name="teklif-kart-1"/>
          <p:cNvSpPr/>
          <p:nvPr/>
        </p:nvSpPr>
        <p:spPr>
          <a:xfrm>
            <a:off x="3367735" y="1874520"/>
            <a:ext cx="2636215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klif-no-1"/>
          <p:cNvSpPr txBox="1"/>
          <p:nvPr/>
        </p:nvSpPr>
        <p:spPr>
          <a:xfrm>
            <a:off x="3642055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klif-vade-1"/>
          <p:cNvSpPr txBox="1"/>
          <p:nvPr/>
        </p:nvSpPr>
        <p:spPr>
          <a:xfrm>
            <a:off x="3642055" y="2834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3 ay vadeli</a:t>
            </a:r>
            <a:endParaRPr lang="en-US" sz="1300" dirty="0"/>
          </a:p>
        </p:txBody>
      </p:sp>
      <p:sp>
        <p:nvSpPr>
          <p:cNvPr id="12" name="teklif-oran-1"/>
          <p:cNvSpPr txBox="1"/>
          <p:nvPr/>
        </p:nvSpPr>
        <p:spPr>
          <a:xfrm>
            <a:off x="3642055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Yıllık %41</a:t>
            </a:r>
            <a:endParaRPr lang="en-US" sz="3000" dirty="0"/>
          </a:p>
        </p:txBody>
      </p:sp>
      <p:sp>
        <p:nvSpPr>
          <p:cNvPr id="13" name="teklif-metin-1"/>
          <p:cNvSpPr txBox="1"/>
          <p:nvPr/>
        </p:nvSpPr>
        <p:spPr>
          <a:xfrm>
            <a:off x="3642055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Vade sonunda yenileme</a:t>
            </a:r>
            <a:endParaRPr lang="en-US" sz="1400" dirty="0"/>
          </a:p>
        </p:txBody>
      </p:sp>
      <p:sp>
        <p:nvSpPr>
          <p:cNvPr id="14" name="teklif-kart-2"/>
          <p:cNvSpPr/>
          <p:nvPr/>
        </p:nvSpPr>
        <p:spPr>
          <a:xfrm>
            <a:off x="6186830" y="1874520"/>
            <a:ext cx="2636215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klif-no-2"/>
          <p:cNvSpPr txBox="1"/>
          <p:nvPr/>
        </p:nvSpPr>
        <p:spPr>
          <a:xfrm>
            <a:off x="6461150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klif-vade-2"/>
          <p:cNvSpPr txBox="1"/>
          <p:nvPr/>
        </p:nvSpPr>
        <p:spPr>
          <a:xfrm>
            <a:off x="6461150" y="2834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 yıl vadeli</a:t>
            </a:r>
            <a:endParaRPr lang="en-US" sz="1300" dirty="0"/>
          </a:p>
        </p:txBody>
      </p:sp>
      <p:sp>
        <p:nvSpPr>
          <p:cNvPr id="17" name="teklif-oran-2"/>
          <p:cNvSpPr txBox="1"/>
          <p:nvPr/>
        </p:nvSpPr>
        <p:spPr>
          <a:xfrm>
            <a:off x="646115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Yıllık %43</a:t>
            </a:r>
            <a:endParaRPr lang="en-US" sz="3000" dirty="0"/>
          </a:p>
        </p:txBody>
      </p:sp>
      <p:sp>
        <p:nvSpPr>
          <p:cNvPr id="18" name="teklif-metin-2"/>
          <p:cNvSpPr txBox="1"/>
          <p:nvPr/>
        </p:nvSpPr>
        <p:spPr>
          <a:xfrm>
            <a:off x="646115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Vade sonunda yenileme</a:t>
            </a:r>
            <a:endParaRPr lang="en-US" sz="1400" dirty="0"/>
          </a:p>
        </p:txBody>
      </p:sp>
      <p:sp>
        <p:nvSpPr>
          <p:cNvPr id="19" name="teklif-kart-3"/>
          <p:cNvSpPr/>
          <p:nvPr/>
        </p:nvSpPr>
        <p:spPr>
          <a:xfrm>
            <a:off x="9005926" y="1874520"/>
            <a:ext cx="2636215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klif-no-3"/>
          <p:cNvSpPr txBox="1"/>
          <p:nvPr/>
        </p:nvSpPr>
        <p:spPr>
          <a:xfrm>
            <a:off x="9280246" y="21488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1" name="teklif-vade-3"/>
          <p:cNvSpPr txBox="1"/>
          <p:nvPr/>
        </p:nvSpPr>
        <p:spPr>
          <a:xfrm>
            <a:off x="9280246" y="2834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Aylık bileşik</a:t>
            </a:r>
            <a:endParaRPr lang="en-US" sz="1300" dirty="0"/>
          </a:p>
        </p:txBody>
      </p:sp>
      <p:sp>
        <p:nvSpPr>
          <p:cNvPr id="22" name="teklif-oran-3"/>
          <p:cNvSpPr txBox="1"/>
          <p:nvPr/>
        </p:nvSpPr>
        <p:spPr>
          <a:xfrm>
            <a:off x="9280246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Aylık %3,1</a:t>
            </a:r>
            <a:endParaRPr lang="en-US" sz="3000" dirty="0"/>
          </a:p>
        </p:txBody>
      </p:sp>
      <p:sp>
        <p:nvSpPr>
          <p:cNvPr id="23" name="teklif-metin-3"/>
          <p:cNvSpPr txBox="1"/>
          <p:nvPr/>
        </p:nvSpPr>
        <p:spPr>
          <a:xfrm>
            <a:off x="9280246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Bileşik</a:t>
            </a:r>
            <a:endParaRPr lang="en-US" sz="1400" dirty="0"/>
          </a:p>
        </p:txBody>
      </p:sp>
      <p:sp>
        <p:nvSpPr>
          <p:cNvPr id="24" name="teklif-varsayim"/>
          <p:cNvSpPr txBox="1"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Varsayımlar: stopaj yok; her teklif vade sonunda aynı koşulla yenilenir.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Ek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Kredi ve amortisman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Ek · Kredi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Eşit taksitli kredi</a:t>
            </a:r>
            <a:endParaRPr lang="en-US" sz="3400" dirty="0"/>
          </a:p>
        </p:txBody>
      </p:sp>
      <p:sp>
        <p:nvSpPr>
          <p:cNvPr id="4" name="kredi-girdi-0"/>
          <p:cNvSpPr txBox="1"/>
          <p:nvPr/>
        </p:nvSpPr>
        <p:spPr>
          <a:xfrm>
            <a:off x="548640" y="1828800"/>
            <a:ext cx="219456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100.000 TL</a:t>
            </a:r>
            <a:endParaRPr lang="en-US" sz="1500" dirty="0"/>
          </a:p>
        </p:txBody>
      </p:sp>
      <p:sp>
        <p:nvSpPr>
          <p:cNvPr id="5" name="kredi-girdi-1"/>
          <p:cNvSpPr txBox="1"/>
          <p:nvPr/>
        </p:nvSpPr>
        <p:spPr>
          <a:xfrm>
            <a:off x="2926080" y="1828800"/>
            <a:ext cx="219456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aylık %3</a:t>
            </a:r>
            <a:endParaRPr lang="en-US" sz="1500" dirty="0"/>
          </a:p>
        </p:txBody>
      </p:sp>
      <p:sp>
        <p:nvSpPr>
          <p:cNvPr id="6" name="kredi-girdi-2"/>
          <p:cNvSpPr txBox="1"/>
          <p:nvPr/>
        </p:nvSpPr>
        <p:spPr>
          <a:xfrm>
            <a:off x="5303520" y="1828800"/>
            <a:ext cx="219456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12 ay</a:t>
            </a:r>
            <a:endParaRPr lang="en-US" sz="1500" dirty="0"/>
          </a:p>
        </p:txBody>
      </p:sp>
      <p:sp>
        <p:nvSpPr>
          <p:cNvPr id="7" name="anuite-metin"/>
          <p:cNvSpPr txBox="1"/>
          <p:nvPr/>
        </p:nvSpPr>
        <p:spPr>
          <a:xfrm>
            <a:off x="548640" y="251460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Eşit taksitli kredi bir anüitedir: her ay aynı tutar ödenir.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Her taksit iki parçadan oluşur: faiz ve anapara.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Faiz her ay kalan borç üzerinden işler. Bu nedenle faiz payı zamanla azalır, anapara payı artar.</a:t>
            </a:r>
            <a:endParaRPr lang="en-US" sz="1700" dirty="0"/>
          </a:p>
          <a:p>
            <a:pPr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Taksit formülü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× r / (1 − (1 + r)^(−n))</a:t>
            </a:r>
            <a:endParaRPr lang="en-US" sz="1700" dirty="0"/>
          </a:p>
        </p:txBody>
      </p:sp>
      <p:sp>
        <p:nvSpPr>
          <p:cNvPr id="8" name="taksit-kart"/>
          <p:cNvSpPr/>
          <p:nvPr/>
        </p:nvSpPr>
        <p:spPr>
          <a:xfrm>
            <a:off x="6885432" y="2514600"/>
            <a:ext cx="4754880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aksit-etiket"/>
          <p:cNvSpPr txBox="1"/>
          <p:nvPr/>
        </p:nvSpPr>
        <p:spPr>
          <a:xfrm>
            <a:off x="7205472" y="2743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Aylık taksit</a:t>
            </a:r>
            <a:endParaRPr lang="en-US" sz="1300" dirty="0"/>
          </a:p>
        </p:txBody>
      </p:sp>
      <p:sp>
        <p:nvSpPr>
          <p:cNvPr id="10" name="taksit-sayi"/>
          <p:cNvSpPr txBox="1"/>
          <p:nvPr/>
        </p:nvSpPr>
        <p:spPr>
          <a:xfrm>
            <a:off x="720547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10.046,21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 TL</a:t>
            </a:r>
            <a:endParaRPr lang="en-US" sz="4800" dirty="0"/>
          </a:p>
        </p:txBody>
      </p:sp>
      <p:sp>
        <p:nvSpPr>
          <p:cNvPr id="11" name="taksit-dil-0"/>
          <p:cNvSpPr txBox="1"/>
          <p:nvPr/>
        </p:nvSpPr>
        <p:spPr>
          <a:xfrm>
            <a:off x="7205472" y="4160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Excel</a:t>
            </a:r>
            <a:endParaRPr lang="en-US" sz="1300" dirty="0"/>
          </a:p>
        </p:txBody>
      </p:sp>
      <p:sp>
        <p:nvSpPr>
          <p:cNvPr id="12" name="taksit-formul-0"/>
          <p:cNvSpPr txBox="1"/>
          <p:nvPr/>
        </p:nvSpPr>
        <p:spPr>
          <a:xfrm>
            <a:off x="822960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=-PMT(B2,B3,B1)</a:t>
            </a:r>
            <a:endParaRPr lang="en-US" sz="1400" dirty="0"/>
          </a:p>
        </p:txBody>
      </p:sp>
      <p:sp>
        <p:nvSpPr>
          <p:cNvPr id="13" name="taksit-dil-1"/>
          <p:cNvSpPr txBox="1"/>
          <p:nvPr/>
        </p:nvSpPr>
        <p:spPr>
          <a:xfrm>
            <a:off x="7205472" y="45445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Python</a:t>
            </a:r>
            <a:endParaRPr lang="en-US" sz="1300" dirty="0"/>
          </a:p>
        </p:txBody>
      </p:sp>
      <p:sp>
        <p:nvSpPr>
          <p:cNvPr id="14" name="taksit-formul-1"/>
          <p:cNvSpPr txBox="1"/>
          <p:nvPr/>
        </p:nvSpPr>
        <p:spPr>
          <a:xfrm>
            <a:off x="8229600" y="4544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-npf.pmt(0.03, 12, 100000)</a:t>
            </a:r>
            <a:endParaRPr lang="en-US" sz="1400" dirty="0"/>
          </a:p>
        </p:txBody>
      </p:sp>
      <p:sp>
        <p:nvSpPr>
          <p:cNvPr id="15" name="alt-not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Vergiler hariç. Python: import numpy_financial as npf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Ek · Kredi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Amortisman tablosu</a:t>
            </a:r>
            <a:endParaRPr lang="en-US" sz="3400" dirty="0"/>
          </a:p>
        </p:txBody>
      </p:sp>
      <p:graphicFrame>
        <p:nvGraphicFramePr>
          <p:cNvPr id="27" name="amortisman-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583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280160"/>
                <a:gridCol w="146304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Ay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Taksit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Faiz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Anapara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</a:rPr>
                        <a:t>Kalan borç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100.000,00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10.046,21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3.000,00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7.046,21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92.953,79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10.046,21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2.788,61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7.257,59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85.696,20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10.046,21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2.570,89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7.475,32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78.220,87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…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10.046,21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292,61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9.753,60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</a:rPr>
                        <a:t>0,00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kural-kart"/>
          <p:cNvSpPr/>
          <p:nvPr/>
        </p:nvSpPr>
        <p:spPr>
          <a:xfrm>
            <a:off x="7525512" y="1828800"/>
            <a:ext cx="4114800" cy="3840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kural-etiket"/>
          <p:cNvSpPr txBox="1"/>
          <p:nvPr/>
        </p:nvSpPr>
        <p:spPr>
          <a:xfrm>
            <a:off x="7799832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Satır kuralı (2. satırdan itibaren)</a:t>
            </a:r>
            <a:endParaRPr lang="en-US" sz="1300" dirty="0"/>
          </a:p>
        </p:txBody>
      </p:sp>
      <p:sp>
        <p:nvSpPr>
          <p:cNvPr id="7" name="kural-metin"/>
          <p:cNvSpPr txBox="1"/>
          <p:nvPr/>
        </p:nvSpPr>
        <p:spPr>
          <a:xfrm>
            <a:off x="7799832" y="23774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Faiz = önceki kalan × $B$2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Anapara = taksit − faiz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Kalan = önceki kalan − anapara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Sağlama (A sütunu ay numarası)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=-IPMT($B$2,A2,$B$3,$B$1)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12. ayın sonunda kalan borç sıfırdır.</a:t>
            </a:r>
            <a:endParaRPr lang="en-US" sz="1300" dirty="0"/>
          </a:p>
        </p:txBody>
      </p:sp>
      <p:sp>
        <p:nvSpPr>
          <p:cNvPr id="8" name="alt-not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Toplam ödeme 120.554,50 TL · toplam faiz 20.554,50 TL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Ek · Kredi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Taksit içinde faiz ve anapara payı</a:t>
            </a:r>
            <a:endParaRPr lang="en-US" sz="3400" dirty="0"/>
          </a:p>
        </p:txBody>
      </p:sp>
      <p:graphicFrame>
        <p:nvGraphicFramePr>
          <p:cNvPr id="4" name="pay-grafik" descr=""/>
          <p:cNvGraphicFramePr/>
          <p:nvPr/>
        </p:nvGraphicFramePr>
        <p:xfrm>
          <a:off x="548640" y="1783080"/>
          <a:ext cx="7680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ay-kart"/>
          <p:cNvSpPr/>
          <p:nvPr/>
        </p:nvSpPr>
        <p:spPr>
          <a:xfrm>
            <a:off x="8622792" y="1783080"/>
            <a:ext cx="301752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pay-etiket-0"/>
          <p:cNvSpPr txBox="1"/>
          <p:nvPr/>
        </p:nvSpPr>
        <p:spPr>
          <a:xfrm>
            <a:off x="8897112" y="2057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1. ay</a:t>
            </a:r>
            <a:endParaRPr lang="en-US" sz="1300" dirty="0"/>
          </a:p>
        </p:txBody>
      </p:sp>
      <p:sp>
        <p:nvSpPr>
          <p:cNvPr id="7" name="pay-sayi-0"/>
          <p:cNvSpPr txBox="1"/>
          <p:nvPr/>
        </p:nvSpPr>
        <p:spPr>
          <a:xfrm>
            <a:off x="8897112" y="2423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%29,9 faiz</a:t>
            </a:r>
            <a:endParaRPr lang="en-US" sz="3200" dirty="0"/>
          </a:p>
        </p:txBody>
      </p:sp>
      <p:sp>
        <p:nvSpPr>
          <p:cNvPr id="8" name="pay-hesap-0"/>
          <p:cNvSpPr txBox="1"/>
          <p:nvPr/>
        </p:nvSpPr>
        <p:spPr>
          <a:xfrm>
            <a:off x="8897112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3.000,00 / 10.046,21</a:t>
            </a:r>
            <a:endParaRPr lang="en-US" sz="1300" dirty="0"/>
          </a:p>
        </p:txBody>
      </p:sp>
      <p:sp>
        <p:nvSpPr>
          <p:cNvPr id="9" name="pay-etiket-1"/>
          <p:cNvSpPr txBox="1"/>
          <p:nvPr/>
        </p:nvSpPr>
        <p:spPr>
          <a:xfrm>
            <a:off x="8897112" y="3931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12. ay</a:t>
            </a:r>
            <a:endParaRPr lang="en-US" sz="1300" dirty="0"/>
          </a:p>
        </p:txBody>
      </p:sp>
      <p:sp>
        <p:nvSpPr>
          <p:cNvPr id="10" name="pay-sayi-1"/>
          <p:cNvSpPr txBox="1"/>
          <p:nvPr/>
        </p:nvSpPr>
        <p:spPr>
          <a:xfrm>
            <a:off x="8897112" y="4297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%2,9 faiz</a:t>
            </a:r>
            <a:endParaRPr lang="en-US" sz="3200" dirty="0"/>
          </a:p>
        </p:txBody>
      </p:sp>
      <p:sp>
        <p:nvSpPr>
          <p:cNvPr id="11" name="pay-hesap-1"/>
          <p:cNvSpPr txBox="1"/>
          <p:nvPr/>
        </p:nvSpPr>
        <p:spPr>
          <a:xfrm>
            <a:off x="8897112" y="5029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292,61 / 10.046,21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Ek · Kredi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Kredinin gerçek maliyeti</a:t>
            </a:r>
            <a:endParaRPr lang="en-US" sz="3400" dirty="0"/>
          </a:p>
        </p:txBody>
      </p:sp>
      <p:sp>
        <p:nvSpPr>
          <p:cNvPr id="4" name="maliyet-kart-0"/>
          <p:cNvSpPr/>
          <p:nvPr/>
        </p:nvSpPr>
        <p:spPr>
          <a:xfrm>
            <a:off x="548640" y="1874520"/>
            <a:ext cx="3566160" cy="2331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maliyet-etiket-0"/>
          <p:cNvSpPr txBox="1"/>
          <p:nvPr/>
        </p:nvSpPr>
        <p:spPr>
          <a:xfrm>
            <a:off x="868680" y="2103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Tahsis ücretsiz</a:t>
            </a:r>
            <a:endParaRPr lang="en-US" sz="1300" dirty="0"/>
          </a:p>
        </p:txBody>
      </p:sp>
      <p:sp>
        <p:nvSpPr>
          <p:cNvPr id="6" name="maliyet-sayi-0"/>
          <p:cNvSpPr txBox="1"/>
          <p:nvPr/>
        </p:nvSpPr>
        <p:spPr>
          <a:xfrm>
            <a:off x="86868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%42,58</a:t>
            </a:r>
            <a:endParaRPr lang="en-US" sz="4800" dirty="0"/>
          </a:p>
        </p:txBody>
      </p:sp>
      <p:sp>
        <p:nvSpPr>
          <p:cNvPr id="7" name="maliyet-metin-0"/>
          <p:cNvSpPr txBox="1"/>
          <p:nvPr/>
        </p:nvSpPr>
        <p:spPr>
          <a:xfrm>
            <a:off x="86868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Ele geçen 100.000 TL; aylık maliyet %3,00</a:t>
            </a:r>
            <a:endParaRPr lang="en-US" sz="1400" dirty="0"/>
          </a:p>
        </p:txBody>
      </p:sp>
      <p:sp>
        <p:nvSpPr>
          <p:cNvPr id="8" name="maliyet-kart-1"/>
          <p:cNvSpPr/>
          <p:nvPr/>
        </p:nvSpPr>
        <p:spPr>
          <a:xfrm>
            <a:off x="4343400" y="1874520"/>
            <a:ext cx="3566160" cy="2331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maliyet-etiket-1"/>
          <p:cNvSpPr txBox="1"/>
          <p:nvPr/>
        </p:nvSpPr>
        <p:spPr>
          <a:xfrm>
            <a:off x="4663440" y="2103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500 TL tahsis ücretiyle</a:t>
            </a:r>
            <a:endParaRPr lang="en-US" sz="1300" dirty="0"/>
          </a:p>
        </p:txBody>
      </p:sp>
      <p:sp>
        <p:nvSpPr>
          <p:cNvPr id="10" name="maliyet-sayi-1"/>
          <p:cNvSpPr txBox="1"/>
          <p:nvPr/>
        </p:nvSpPr>
        <p:spPr>
          <a:xfrm>
            <a:off x="466344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%43,98</a:t>
            </a:r>
            <a:endParaRPr lang="en-US" sz="4800" dirty="0"/>
          </a:p>
        </p:txBody>
      </p:sp>
      <p:sp>
        <p:nvSpPr>
          <p:cNvPr id="11" name="maliyet-metin-1"/>
          <p:cNvSpPr txBox="1"/>
          <p:nvPr/>
        </p:nvSpPr>
        <p:spPr>
          <a:xfrm>
            <a:off x="466344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Ele geçen 99.500 TL; aylık maliyet %3,08</a:t>
            </a:r>
            <a:endParaRPr lang="en-US" sz="1400" dirty="0"/>
          </a:p>
        </p:txBody>
      </p:sp>
      <p:sp>
        <p:nvSpPr>
          <p:cNvPr id="12" name="maliyet-formul"/>
          <p:cNvSpPr txBox="1"/>
          <p:nvPr/>
        </p:nvSpPr>
        <p:spPr>
          <a:xfrm>
            <a:off x="548640" y="4434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Vergiler hariç yıllık maliyet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Nakit akışı: +99.500 ve 12 × −10.046,21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=IRR(...)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+ aylık maliyet)^12 − 1</a:t>
            </a:r>
            <a:endParaRPr lang="en-US" sz="1300" dirty="0"/>
          </a:p>
        </p:txBody>
      </p:sp>
      <p:sp>
        <p:nvSpPr>
          <p:cNvPr id="13" name="mevzuat-kart"/>
          <p:cNvSpPr/>
          <p:nvPr/>
        </p:nvSpPr>
        <p:spPr>
          <a:xfrm>
            <a:off x="8165592" y="1874520"/>
            <a:ext cx="3474720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mevzuat-baslik-0"/>
          <p:cNvSpPr txBox="1"/>
          <p:nvPr/>
        </p:nvSpPr>
        <p:spPr>
          <a:xfrm>
            <a:off x="8439912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Tahsis ücreti</a:t>
            </a:r>
            <a:endParaRPr lang="en-US" sz="1600" dirty="0"/>
          </a:p>
        </p:txBody>
      </p:sp>
      <p:sp>
        <p:nvSpPr>
          <p:cNvPr id="15" name="mevzuat-metin-0"/>
          <p:cNvSpPr txBox="1"/>
          <p:nvPr/>
        </p:nvSpPr>
        <p:spPr>
          <a:xfrm>
            <a:off x="8439912" y="24505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Anaparanın binde beşini geçemez: 100.000 TL'de en çok 500 TL [6].</a:t>
            </a:r>
            <a:endParaRPr lang="en-US" sz="1300" dirty="0"/>
          </a:p>
        </p:txBody>
      </p:sp>
      <p:sp>
        <p:nvSpPr>
          <p:cNvPr id="16" name="mevzuat-baslik-1"/>
          <p:cNvSpPr txBox="1"/>
          <p:nvPr/>
        </p:nvSpPr>
        <p:spPr>
          <a:xfrm>
            <a:off x="8439912" y="3264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KKDF ve BSMV</a:t>
            </a:r>
            <a:endParaRPr lang="en-US" sz="1600" dirty="0"/>
          </a:p>
        </p:txBody>
      </p:sp>
      <p:sp>
        <p:nvSpPr>
          <p:cNvPr id="17" name="mevzuat-metin-1"/>
          <p:cNvSpPr txBox="1"/>
          <p:nvPr/>
        </p:nvSpPr>
        <p:spPr>
          <a:xfrm>
            <a:off x="8439912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Tüketici kredisinde faize ek olarak ikisi de %15 [7], [8].</a:t>
            </a:r>
            <a:endParaRPr lang="en-US" sz="1300" dirty="0"/>
          </a:p>
        </p:txBody>
      </p:sp>
      <p:sp>
        <p:nvSpPr>
          <p:cNvPr id="18" name="mevzuat-baslik-2"/>
          <p:cNvSpPr txBox="1"/>
          <p:nvPr/>
        </p:nvSpPr>
        <p:spPr>
          <a:xfrm>
            <a:off x="8439912" y="44256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EYFO</a:t>
            </a:r>
            <a:endParaRPr lang="en-US" sz="1600" dirty="0"/>
          </a:p>
        </p:txBody>
      </p:sp>
      <p:sp>
        <p:nvSpPr>
          <p:cNvPr id="19" name="mevzuat-metin-2"/>
          <p:cNvSpPr txBox="1"/>
          <p:nvPr/>
        </p:nvSpPr>
        <p:spPr>
          <a:xfrm>
            <a:off x="8439912" y="4773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Faiz, vergi ve ücretleri içeren yıllık toplam maliyet; kredilerin karşılaştırma ölçüsü [9].</a:t>
            </a:r>
            <a:endParaRPr lang="en-US" sz="1300" dirty="0"/>
          </a:p>
        </p:txBody>
      </p:sp>
      <p:sp>
        <p:nvSpPr>
          <p:cNvPr id="20" name="alt-not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Vergiler dahil EYFO, %43,98'den yüksektir.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Kapanış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Çıkış kartı</a:t>
            </a:r>
            <a:endParaRPr lang="en-US" sz="3400" dirty="0"/>
          </a:p>
        </p:txBody>
      </p:sp>
      <p:sp>
        <p:nvSpPr>
          <p:cNvPr id="4" name="cikis-kart"/>
          <p:cNvSpPr/>
          <p:nvPr/>
        </p:nvSpPr>
        <p:spPr>
          <a:xfrm>
            <a:off x="548640" y="1828800"/>
            <a:ext cx="11094415" cy="2194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ikis-soru"/>
          <p:cNvSpPr txBox="1"/>
          <p:nvPr/>
        </p:nvSpPr>
        <p:spPr>
          <a:xfrm>
            <a:off x="1005840" y="1828800"/>
            <a:ext cx="101800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chemeClr val="accent1"/>
                </a:solidFill>
              </a:rPr>
              <a:t>Aylık %3'lük bir kredinin yıllık maliyeti %36 mıdır?</a:t>
            </a:r>
            <a:endParaRPr lang="en-US" sz="3400" dirty="0"/>
          </a:p>
        </p:txBody>
      </p:sp>
      <p:sp>
        <p:nvSpPr>
          <p:cNvPr id="6" name="ev-hucre-0"/>
          <p:cNvSpPr txBox="1"/>
          <p:nvPr/>
        </p:nvSpPr>
        <p:spPr>
          <a:xfrm>
            <a:off x="548640" y="4498848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ev-etiket-0"/>
          <p:cNvSpPr txBox="1"/>
          <p:nvPr/>
        </p:nvSpPr>
        <p:spPr>
          <a:xfrm>
            <a:off x="804672" y="4416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Ev çalışması</a:t>
            </a:r>
            <a:endParaRPr lang="en-US" sz="1300" dirty="0"/>
          </a:p>
        </p:txBody>
      </p:sp>
      <p:sp>
        <p:nvSpPr>
          <p:cNvPr id="8" name="ev-metin-0"/>
          <p:cNvSpPr txBox="1"/>
          <p:nvPr/>
        </p:nvSpPr>
        <p:spPr>
          <a:xfrm>
            <a:off x="548640" y="4800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Yüzde ve faiz (el kitabı f02)</a:t>
            </a:r>
            <a:endParaRPr lang="en-US" sz="1800" dirty="0"/>
          </a:p>
        </p:txBody>
      </p:sp>
      <p:sp>
        <p:nvSpPr>
          <p:cNvPr id="9" name="ev-hucre-1"/>
          <p:cNvSpPr txBox="1"/>
          <p:nvPr/>
        </p:nvSpPr>
        <p:spPr>
          <a:xfrm>
            <a:off x="4307738" y="4498848"/>
            <a:ext cx="146304" cy="14630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0" name="ev-etiket-1"/>
          <p:cNvSpPr txBox="1"/>
          <p:nvPr/>
        </p:nvSpPr>
        <p:spPr>
          <a:xfrm>
            <a:off x="4563770" y="4416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Uygulama</a:t>
            </a:r>
            <a:endParaRPr lang="en-US" sz="1300" dirty="0"/>
          </a:p>
        </p:txBody>
      </p:sp>
      <p:sp>
        <p:nvSpPr>
          <p:cNvPr id="11" name="ev-metin-1"/>
          <p:cNvSpPr txBox="1"/>
          <p:nvPr/>
        </p:nvSpPr>
        <p:spPr>
          <a:xfrm>
            <a:off x="4307738" y="4800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G3 ve G4 evde tamamlanabilir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Kapanış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Özet ve sonraki hafta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Her faiz oranının bir dönemi, işleyişi ve sıklığı vardır.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Bileşik faizde faiz faize işler. Aradaki fark süre uzadıkça büyür.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Yıllık etkin oran, farklı sıklıktaki teklifleri tek ölçüye çevirir.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Reel faiz Fisher denklemiyle bulunur. Eylül 2026'da reel politika faizi %5,60.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Her sonuç ikinci bir yoldan sağlanır: Excel ile Python aynı sayıyı verir.</a:t>
            </a:r>
            <a:endParaRPr lang="en-US" sz="18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8028432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Sonraki hafta · 13 Ekim</a:t>
            </a:r>
            <a:endParaRPr lang="en-US" sz="1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8028432" y="25603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Kredi ve taksit (H3)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PMT, NPV, IRR; ara ödemeli FV ve PV; EYFO.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Finans temeli: paranın zaman değeri ve kredi (f03).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Kapanış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Kaynaklar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[1] TCMB, Faiz Oranlarına İlişkin Basın Duyurusu 2026-01, 22.01.2026.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[2] TCMB, Faiz Oranlarına İlişkin Basın Duyurusu 2026-38, 10.09.2026.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[3] TCMB, Tüketici Fiyatları tablosu (TÜİK verisi), erişim 06.10.2026.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[4] Lusardi, A. ve Mitchell, O. S., finansal okuryazarlığın üç sorusu, GFLEC.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[5] OECD (2016), OECD/INFE International Survey of Adult Financial Literacy Competencies.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[6] TCMB, Finansal Tüketicilerden Alınacak Ücretlere İlişkin Usûl ve Esaslar Hakkında Tebliğ (Sayı: 2020/7), md. 10/1; Resmî Gazete 07.03.2020.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[7] 2004/7735 sayılı Bakanlar Kurulu Kararı, md. 1 (KKDF); Resmî Gazete 15.08.2004.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[8] 7345 sayılı Cumhurbaşkanı Kararı (BSMV); Resmî Gazete 07.07.2023.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[9] Tüketici Kredisi Sözleşmeleri Yönetmeliği, md. 4/1-(ç) ve (i).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Faiz örneklerindeki tutar ve oranlar varsayımsaldır.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TEK 503">
  <a:themeElements>
    <a:clrScheme name="FTEK 503">
      <a:dk1>
        <a:srgbClr val="1E2430"/>
      </a:dk1>
      <a:lt1>
        <a:srgbClr val="FFFFFF"/>
      </a:lt1>
      <a:dk2>
        <a:srgbClr val="0B4F5C"/>
      </a:dk2>
      <a:lt2>
        <a:srgbClr val="EEF3F4"/>
      </a:lt2>
      <a:accent1>
        <a:srgbClr val="0B4F5C"/>
      </a:accent1>
      <a:accent2>
        <a:srgbClr val="D9822B"/>
      </a:accent2>
      <a:accent3>
        <a:srgbClr val="5F6B76"/>
      </a:accent3>
      <a:accent4>
        <a:srgbClr val="2E7D5B"/>
      </a:accent4>
      <a:accent5>
        <a:srgbClr val="3A5BA0"/>
      </a:accent5>
      <a:accent6>
        <a:srgbClr val="B23A48"/>
      </a:accent6>
      <a:hlink>
        <a:srgbClr val="0B6E80"/>
      </a:hlink>
      <a:folHlink>
        <a:srgbClr val="6B4E9B"/>
      </a:folHlink>
    </a:clrScheme>
    <a:fontScheme name="FTEK 50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H2 Finansal programlamaya teknik giriş</dc:title>
  <dc:subject>FTEK 503 Finansal Programlama, Güz 2026</dc:subject>
  <dc:creator>Doç. Dr. Alper Özpınar</dc:creator>
  <cp:lastModifiedBy>Doç. Dr. Alper Özpınar</cp:lastModifiedBy>
  <cp:revision>1</cp:revision>
  <dcterms:created xsi:type="dcterms:W3CDTF">2026-10-13T14:59:55Z</dcterms:created>
  <dcterms:modified xsi:type="dcterms:W3CDTF">2026-10-13T14:59:55Z</dcterms:modified>
</cp:coreProperties>
</file>